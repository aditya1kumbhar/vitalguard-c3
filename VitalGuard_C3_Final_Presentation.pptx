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for Slide 1:</a:t>
            </a:r>
          </a:p>
          <a:p>
            <a:r>
              <a:t>Good morning respected guide, external examiners, and faculty members. We are presenting our final year capstone project titled 'VitalGuard C3: IoT &amp; Web-Based Real-Time Patient Vital Monitoring and Fall Detection System'. Our team consists of Aditya Kumbhar and team members, guided by our respected project guide.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for Slide 2:</a:t>
            </a:r>
          </a:p>
          <a:p>
            <a:r>
              <a:t>Here we introduce the core problem: elderly individuals often suffer falls when alone, and the delay in reaching medical aid leads to severe complications. VitalGuard C3 provides continuous telemetry of heart rate, blood oxygen, and sudden kinetic impacts so caregivers are notified within milliseconds.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for Slide 3:</a:t>
            </a:r>
          </a:p>
          <a:p>
            <a:r>
              <a:t>We surveyed commercial options like Apple Watch and hospital monitors. While commercial watches are expensive and locked down, hospital systems lack mobility. VitalGuard C3 uses affordable, readily available components: ESP32, MPU6050, and MAX30102, paired with a modern Next.js and FastAPI stack for real-time responsiveness.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for Slide 4:</a:t>
            </a:r>
          </a:p>
          <a:p>
            <a:r>
              <a:t>Our project addresses 5 primary objectives: automated fall detection using accelerometer SVM math, continuous vital monitoring, sub-second WebSocket transmission, fast passkey-based caregiver login, and proactive 30-day health safety scoring.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for Slide 5:</a:t>
            </a:r>
          </a:p>
          <a:p>
            <a:r>
              <a:t>This slide depicts our system architecture and UML models. The hardware layer connects to the FastAPI backend via WebSockets. The activity diagram follows sensor sampling, SVM calculation, threshold comparison, and alert broadcasting to the guardian's dashboard.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for Slide 6:</a:t>
            </a:r>
          </a:p>
          <a:p>
            <a:r>
              <a:t>We used Next.js 14 on the frontend for low-latency re-renders, FastAPI on the backend for high-throughput asynchronous processing, and SQLite in WAL mode for persistent zero-configuration storage. Our development followed a strict 5-phase software engineering lifecycle.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for Slide 7:</a:t>
            </a:r>
          </a:p>
          <a:p>
            <a:r>
              <a:t>Our database uses 4 relational tables: guardians for authentication, vitals_raw for 1Hz records, fall_alerts for kinetic impact tracking, and daily_analytics for 30-day trends. Acknowledged flags guarantee that old falls do not cause false active emergency alarms.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for Slide 8:</a:t>
            </a:r>
          </a:p>
          <a:p>
            <a:r>
              <a:t>Here are our empirical results: fall alerts reach caregivers in under 250 milliseconds with 94.2% accuracy. Our working software includes the Live Monitor screen with real-time waveform rendering and the Past Records screen featuring our 30-day trend analysis.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for Slide 9:</a:t>
            </a:r>
          </a:p>
          <a:p>
            <a:r>
              <a:t>In our discussion, we openly analyze current boundaries: the optical sensor can pick up noise during rapid movement, and Wi-Fi coverage is required. Our planned enhancements include integrating TinyML on the ESP32 and adding a cellular or LoRa module for outdoor elderly tracking.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for Slide 10:</a:t>
            </a:r>
          </a:p>
          <a:p>
            <a:r>
              <a:t>To conclude, VitalGuard C3 achieves all objectives set out in our problem statement. It delivers high-accuracy fall detection and vital monitoring at a fraction of the cost of commercial alternatives, demonstrating how IoT and modern web engineering can solve real societal challenges.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for Slide 11:</a:t>
            </a:r>
          </a:p>
          <a:p>
            <a:r>
              <a:t>Thank you so much to our guide and respected panel for your time and guidance. We are now open to any questions and suggestions regarding our project.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57200" cy="6858000"/>
          </a:xfrm>
          <a:prstGeom prst="rect">
            <a:avLst/>
          </a:prstGeom>
          <a:solidFill>
            <a:srgbClr val="013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10058400" cy="457200"/>
          </a:xfrm>
          <a:prstGeom prst="rect">
            <a:avLst/>
          </a:prstGeom>
          <a:noFill/>
        </p:spPr>
        <p:txBody>
          <a:bodyPr wrap="none">
            <a:spAutoFit/>
          </a:bodyPr>
          <a:lstStyle/>
          <a:p>
            <a:pPr>
              <a:defRPr sz="1500" b="1">
                <a:solidFill>
                  <a:srgbClr val="64748B"/>
                </a:solidFill>
              </a:defRPr>
            </a:pPr>
            <a:r>
              <a:t>[Your College / Institute Name Here]</a:t>
            </a:r>
          </a:p>
        </p:txBody>
      </p:sp>
      <p:sp>
        <p:nvSpPr>
          <p:cNvPr id="4" name="TextBox 3"/>
          <p:cNvSpPr txBox="1"/>
          <p:nvPr/>
        </p:nvSpPr>
        <p:spPr>
          <a:xfrm>
            <a:off x="1097280" y="1188720"/>
            <a:ext cx="10058400" cy="365760"/>
          </a:xfrm>
          <a:prstGeom prst="rect">
            <a:avLst/>
          </a:prstGeom>
          <a:noFill/>
        </p:spPr>
        <p:txBody>
          <a:bodyPr wrap="none">
            <a:spAutoFit/>
          </a:bodyPr>
          <a:lstStyle/>
          <a:p>
            <a:pPr>
              <a:defRPr sz="1200">
                <a:solidFill>
                  <a:srgbClr val="0E7490"/>
                </a:solidFill>
              </a:defRPr>
            </a:pPr>
            <a:r>
              <a:t>Department of Computer Engineering | Academic Year 2025-26</a:t>
            </a:r>
          </a:p>
        </p:txBody>
      </p:sp>
      <p:sp>
        <p:nvSpPr>
          <p:cNvPr id="5" name="Rounded Rectangle 4"/>
          <p:cNvSpPr/>
          <p:nvPr/>
        </p:nvSpPr>
        <p:spPr>
          <a:xfrm>
            <a:off x="1097280" y="1737360"/>
            <a:ext cx="10058400" cy="2011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1920240"/>
            <a:ext cx="9509760" cy="1645920"/>
          </a:xfrm>
          <a:prstGeom prst="rect">
            <a:avLst/>
          </a:prstGeom>
          <a:noFill/>
        </p:spPr>
        <p:txBody>
          <a:bodyPr wrap="square">
            <a:spAutoFit/>
          </a:bodyPr>
          <a:lstStyle/>
          <a:p>
            <a:pPr>
              <a:defRPr sz="3600" b="1">
                <a:solidFill>
                  <a:srgbClr val="01373D"/>
                </a:solidFill>
              </a:defRPr>
            </a:pPr>
            <a:r>
              <a:t>VitalGuard C3</a:t>
            </a:r>
          </a:p>
          <a:p>
            <a:pPr>
              <a:spcBef>
                <a:spcPts val="800"/>
              </a:spcBef>
              <a:defRPr sz="1800" b="1">
                <a:solidFill>
                  <a:srgbClr val="0E7490"/>
                </a:solidFill>
              </a:defRPr>
            </a:pPr>
            <a:r>
              <a:t>IoT &amp; Web-Based Real-Time Patient Vital Monitoring and Fall Detection System</a:t>
            </a:r>
          </a:p>
        </p:txBody>
      </p:sp>
      <p:sp>
        <p:nvSpPr>
          <p:cNvPr id="7" name="Rounded Rectangle 6"/>
          <p:cNvSpPr/>
          <p:nvPr/>
        </p:nvSpPr>
        <p:spPr>
          <a:xfrm>
            <a:off x="1097280" y="4023360"/>
            <a:ext cx="4846320" cy="2103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25880" y="4206240"/>
            <a:ext cx="4389120" cy="365760"/>
          </a:xfrm>
          <a:prstGeom prst="rect">
            <a:avLst/>
          </a:prstGeom>
          <a:noFill/>
        </p:spPr>
        <p:txBody>
          <a:bodyPr wrap="square" lIns="0" tIns="0" rIns="0" bIns="0">
            <a:spAutoFit/>
          </a:bodyPr>
          <a:lstStyle/>
          <a:p>
            <a:pPr>
              <a:defRPr sz="1400" b="1">
                <a:solidFill>
                  <a:srgbClr val="01373D"/>
                </a:solidFill>
              </a:defRPr>
            </a:pPr>
            <a:r>
              <a:t>Project Team Members</a:t>
            </a:r>
          </a:p>
        </p:txBody>
      </p:sp>
      <p:sp>
        <p:nvSpPr>
          <p:cNvPr id="9" name="TextBox 8"/>
          <p:cNvSpPr txBox="1"/>
          <p:nvPr/>
        </p:nvSpPr>
        <p:spPr>
          <a:xfrm>
            <a:off x="1325880" y="4572000"/>
            <a:ext cx="4389120" cy="1371600"/>
          </a:xfrm>
          <a:prstGeom prst="rect">
            <a:avLst/>
          </a:prstGeom>
          <a:noFill/>
        </p:spPr>
        <p:txBody>
          <a:bodyPr wrap="square">
            <a:spAutoFit/>
          </a:bodyPr>
          <a:lstStyle/>
          <a:p>
            <a:pPr>
              <a:spcBef>
                <a:spcPts val="400"/>
              </a:spcBef>
              <a:defRPr sz="1200">
                <a:solidFill>
                  <a:srgbClr val="1E293B"/>
                </a:solidFill>
              </a:defRPr>
            </a:pPr>
            <a:r>
              <a:t>•  Aditya Kumbhar (Roll No: ____) - Team Lead</a:t>
            </a:r>
          </a:p>
          <a:p>
            <a:pPr>
              <a:spcBef>
                <a:spcPts val="400"/>
              </a:spcBef>
              <a:defRPr sz="1200">
                <a:solidFill>
                  <a:srgbClr val="1E293B"/>
                </a:solidFill>
              </a:defRPr>
            </a:pPr>
            <a:r>
              <a:t>•  [Teammate 2 Name] (Roll No: ____)</a:t>
            </a:r>
          </a:p>
          <a:p>
            <a:pPr>
              <a:spcBef>
                <a:spcPts val="400"/>
              </a:spcBef>
              <a:defRPr sz="1200">
                <a:solidFill>
                  <a:srgbClr val="1E293B"/>
                </a:solidFill>
              </a:defRPr>
            </a:pPr>
            <a:r>
              <a:t>•  [Teammate 3 Name] (Roll No: ____)</a:t>
            </a:r>
          </a:p>
          <a:p>
            <a:pPr>
              <a:spcBef>
                <a:spcPts val="400"/>
              </a:spcBef>
              <a:defRPr sz="1200">
                <a:solidFill>
                  <a:srgbClr val="1E293B"/>
                </a:solidFill>
              </a:defRPr>
            </a:pPr>
            <a:r>
              <a:t>•  Class: Final Year B.Tech / B.E.</a:t>
            </a:r>
          </a:p>
        </p:txBody>
      </p:sp>
      <p:sp>
        <p:nvSpPr>
          <p:cNvPr id="10" name="Rounded Rectangle 9"/>
          <p:cNvSpPr/>
          <p:nvPr/>
        </p:nvSpPr>
        <p:spPr>
          <a:xfrm>
            <a:off x="6309360" y="4023360"/>
            <a:ext cx="4846320" cy="2103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37960" y="4206240"/>
            <a:ext cx="4389120" cy="365760"/>
          </a:xfrm>
          <a:prstGeom prst="rect">
            <a:avLst/>
          </a:prstGeom>
          <a:noFill/>
        </p:spPr>
        <p:txBody>
          <a:bodyPr wrap="square" lIns="0" tIns="0" rIns="0" bIns="0">
            <a:spAutoFit/>
          </a:bodyPr>
          <a:lstStyle/>
          <a:p>
            <a:pPr>
              <a:defRPr sz="1400" b="1">
                <a:solidFill>
                  <a:srgbClr val="01373D"/>
                </a:solidFill>
              </a:defRPr>
            </a:pPr>
            <a:r>
              <a:t>Project Guide &amp; Mentorship</a:t>
            </a:r>
          </a:p>
        </p:txBody>
      </p:sp>
      <p:sp>
        <p:nvSpPr>
          <p:cNvPr id="12" name="TextBox 11"/>
          <p:cNvSpPr txBox="1"/>
          <p:nvPr/>
        </p:nvSpPr>
        <p:spPr>
          <a:xfrm>
            <a:off x="6537960" y="4572000"/>
            <a:ext cx="4389120" cy="1371600"/>
          </a:xfrm>
          <a:prstGeom prst="rect">
            <a:avLst/>
          </a:prstGeom>
          <a:noFill/>
        </p:spPr>
        <p:txBody>
          <a:bodyPr wrap="square">
            <a:spAutoFit/>
          </a:bodyPr>
          <a:lstStyle/>
          <a:p>
            <a:pPr>
              <a:spcBef>
                <a:spcPts val="400"/>
              </a:spcBef>
              <a:defRPr sz="1200">
                <a:solidFill>
                  <a:srgbClr val="1E293B"/>
                </a:solidFill>
              </a:defRPr>
            </a:pPr>
            <a:r>
              <a:t>•  Project Guide: Prof. / Dr. [Guide Name]</a:t>
            </a:r>
          </a:p>
          <a:p>
            <a:pPr>
              <a:spcBef>
                <a:spcPts val="400"/>
              </a:spcBef>
              <a:defRPr sz="1200">
                <a:solidFill>
                  <a:srgbClr val="1E293B"/>
                </a:solidFill>
              </a:defRPr>
            </a:pPr>
            <a:r>
              <a:t>•  Designation: Assistant Professor</a:t>
            </a:r>
          </a:p>
          <a:p>
            <a:pPr>
              <a:spcBef>
                <a:spcPts val="400"/>
              </a:spcBef>
              <a:defRPr sz="1200">
                <a:solidFill>
                  <a:srgbClr val="1E293B"/>
                </a:solidFill>
              </a:defRPr>
            </a:pPr>
            <a:r>
              <a:t>•  Department of Computer Engineering</a:t>
            </a:r>
          </a:p>
          <a:p>
            <a:pPr>
              <a:spcBef>
                <a:spcPts val="400"/>
              </a:spcBef>
              <a:defRPr sz="1200">
                <a:solidFill>
                  <a:srgbClr val="1E293B"/>
                </a:solidFill>
              </a:defRPr>
            </a:pPr>
            <a:r>
              <a:t>•  Institution: [College Name]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728655" cy="36576"/>
          </a:xfrm>
          <a:prstGeom prst="rect">
            <a:avLst/>
          </a:prstGeom>
          <a:solidFill>
            <a:srgbClr val="0E7490"/>
          </a:solidFill>
          <a:ln>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728655" cy="320040"/>
          </a:xfrm>
          <a:prstGeom prst="rect">
            <a:avLst/>
          </a:prstGeom>
          <a:noFill/>
        </p:spPr>
        <p:txBody>
          <a:bodyPr wrap="square" lIns="0" tIns="0" rIns="0" bIns="0">
            <a:spAutoFit/>
          </a:bodyPr>
          <a:lstStyle/>
          <a:p>
            <a:pPr>
              <a:defRPr sz="1000" b="1">
                <a:solidFill>
                  <a:srgbClr val="0E7490"/>
                </a:solidFill>
              </a:defRPr>
            </a:pPr>
            <a:r>
              <a:t>PROJECT OVERVIEW &amp; PROBLEM DEFINITION</a:t>
            </a:r>
          </a:p>
        </p:txBody>
      </p:sp>
      <p:sp>
        <p:nvSpPr>
          <p:cNvPr id="4" name="TextBox 3"/>
          <p:cNvSpPr txBox="1"/>
          <p:nvPr/>
        </p:nvSpPr>
        <p:spPr>
          <a:xfrm>
            <a:off x="731520" y="868680"/>
            <a:ext cx="10728655" cy="594360"/>
          </a:xfrm>
          <a:prstGeom prst="rect">
            <a:avLst/>
          </a:prstGeom>
          <a:noFill/>
        </p:spPr>
        <p:txBody>
          <a:bodyPr wrap="square" lIns="0" tIns="0" rIns="0" bIns="0">
            <a:spAutoFit/>
          </a:bodyPr>
          <a:lstStyle/>
          <a:p>
            <a:pPr>
              <a:defRPr sz="2400" b="1">
                <a:solidFill>
                  <a:srgbClr val="01373D"/>
                </a:solidFill>
              </a:defRPr>
            </a:pPr>
            <a:r>
              <a:t>Slide 2: Introduction</a:t>
            </a:r>
          </a:p>
        </p:txBody>
      </p:sp>
      <p:sp>
        <p:nvSpPr>
          <p:cNvPr id="5" name="Rounded Rectangle 4"/>
          <p:cNvSpPr/>
          <p:nvPr/>
        </p:nvSpPr>
        <p:spPr>
          <a:xfrm>
            <a:off x="731520" y="1645920"/>
            <a:ext cx="5120640" cy="2194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4663440" cy="365760"/>
          </a:xfrm>
          <a:prstGeom prst="rect">
            <a:avLst/>
          </a:prstGeom>
          <a:noFill/>
        </p:spPr>
        <p:txBody>
          <a:bodyPr wrap="square" lIns="0" tIns="0" rIns="0" bIns="0">
            <a:spAutoFit/>
          </a:bodyPr>
          <a:lstStyle/>
          <a:p>
            <a:pPr>
              <a:defRPr sz="1400" b="1">
                <a:solidFill>
                  <a:srgbClr val="01373D"/>
                </a:solidFill>
              </a:defRPr>
            </a:pPr>
            <a:r>
              <a:t>1. Brief Overview &amp; Purpose</a:t>
            </a:r>
          </a:p>
        </p:txBody>
      </p:sp>
      <p:sp>
        <p:nvSpPr>
          <p:cNvPr id="7" name="TextBox 6"/>
          <p:cNvSpPr txBox="1"/>
          <p:nvPr/>
        </p:nvSpPr>
        <p:spPr>
          <a:xfrm>
            <a:off x="914400" y="2148840"/>
            <a:ext cx="4754880" cy="1554480"/>
          </a:xfrm>
          <a:prstGeom prst="rect">
            <a:avLst/>
          </a:prstGeom>
          <a:noFill/>
        </p:spPr>
        <p:txBody>
          <a:bodyPr wrap="square">
            <a:spAutoFit/>
          </a:bodyPr>
          <a:lstStyle/>
          <a:p>
            <a:pPr>
              <a:spcBef>
                <a:spcPts val="200"/>
              </a:spcBef>
              <a:defRPr sz="1200">
                <a:solidFill>
                  <a:srgbClr val="1E293B"/>
                </a:solidFill>
              </a:defRPr>
            </a:pPr>
            <a:r>
              <a:t>•  VitalGuard C3 is an end-to-end wearable health telemetry system designed for continuous patient safety and elderly care.</a:t>
            </a:r>
          </a:p>
          <a:p>
            <a:pPr>
              <a:spcBef>
                <a:spcPts val="600"/>
              </a:spcBef>
              <a:defRPr sz="1200">
                <a:solidFill>
                  <a:srgbClr val="1E293B"/>
                </a:solidFill>
              </a:defRPr>
            </a:pPr>
            <a:r>
              <a:t>•  Purpose: To eliminate delayed emergency medical response by detecting falls instantly and streaming live vital telemetry.</a:t>
            </a:r>
          </a:p>
        </p:txBody>
      </p:sp>
      <p:sp>
        <p:nvSpPr>
          <p:cNvPr id="8" name="Rounded Rectangle 7"/>
          <p:cNvSpPr/>
          <p:nvPr/>
        </p:nvSpPr>
        <p:spPr>
          <a:xfrm>
            <a:off x="6309360" y="1645920"/>
            <a:ext cx="5120640" cy="2194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37960" y="1828800"/>
            <a:ext cx="4663440" cy="365760"/>
          </a:xfrm>
          <a:prstGeom prst="rect">
            <a:avLst/>
          </a:prstGeom>
          <a:noFill/>
        </p:spPr>
        <p:txBody>
          <a:bodyPr wrap="square" lIns="0" tIns="0" rIns="0" bIns="0">
            <a:spAutoFit/>
          </a:bodyPr>
          <a:lstStyle/>
          <a:p>
            <a:pPr>
              <a:defRPr sz="1400" b="1">
                <a:solidFill>
                  <a:srgbClr val="01373D"/>
                </a:solidFill>
              </a:defRPr>
            </a:pPr>
            <a:r>
              <a:t>2. Problem Statement</a:t>
            </a:r>
          </a:p>
        </p:txBody>
      </p:sp>
      <p:sp>
        <p:nvSpPr>
          <p:cNvPr id="10" name="TextBox 9"/>
          <p:cNvSpPr txBox="1"/>
          <p:nvPr/>
        </p:nvSpPr>
        <p:spPr>
          <a:xfrm>
            <a:off x="6492240" y="2148840"/>
            <a:ext cx="4754880" cy="1554480"/>
          </a:xfrm>
          <a:prstGeom prst="rect">
            <a:avLst/>
          </a:prstGeom>
          <a:noFill/>
        </p:spPr>
        <p:txBody>
          <a:bodyPr wrap="square">
            <a:spAutoFit/>
          </a:bodyPr>
          <a:lstStyle/>
          <a:p>
            <a:pPr>
              <a:spcBef>
                <a:spcPts val="200"/>
              </a:spcBef>
              <a:defRPr sz="1200">
                <a:solidFill>
                  <a:srgbClr val="1E293B"/>
                </a:solidFill>
              </a:defRPr>
            </a:pPr>
            <a:r>
              <a:t>•  Unattended falls among seniors are the leading cause of fatal and non-fatal injuries according to WHO statistics.</a:t>
            </a:r>
          </a:p>
          <a:p>
            <a:pPr>
              <a:spcBef>
                <a:spcPts val="600"/>
              </a:spcBef>
              <a:defRPr sz="1200">
                <a:solidFill>
                  <a:srgbClr val="1E293B"/>
                </a:solidFill>
              </a:defRPr>
            </a:pPr>
            <a:r>
              <a:t>•  Existing hospital checks rely on manual nurse rounds (every 4-6 hours), leaving sudden nocturnal drops undetected.</a:t>
            </a:r>
          </a:p>
        </p:txBody>
      </p:sp>
      <p:sp>
        <p:nvSpPr>
          <p:cNvPr id="11" name="Rounded Rectangle 10"/>
          <p:cNvSpPr/>
          <p:nvPr/>
        </p:nvSpPr>
        <p:spPr>
          <a:xfrm>
            <a:off x="731520" y="4114800"/>
            <a:ext cx="5120640" cy="2194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297680"/>
            <a:ext cx="4663440" cy="365760"/>
          </a:xfrm>
          <a:prstGeom prst="rect">
            <a:avLst/>
          </a:prstGeom>
          <a:noFill/>
        </p:spPr>
        <p:txBody>
          <a:bodyPr wrap="square" lIns="0" tIns="0" rIns="0" bIns="0">
            <a:spAutoFit/>
          </a:bodyPr>
          <a:lstStyle/>
          <a:p>
            <a:pPr>
              <a:defRPr sz="1400" b="1">
                <a:solidFill>
                  <a:srgbClr val="01373D"/>
                </a:solidFill>
              </a:defRPr>
            </a:pPr>
            <a:r>
              <a:t>3. Need for the Proposed System</a:t>
            </a:r>
          </a:p>
        </p:txBody>
      </p:sp>
      <p:sp>
        <p:nvSpPr>
          <p:cNvPr id="13" name="TextBox 12"/>
          <p:cNvSpPr txBox="1"/>
          <p:nvPr/>
        </p:nvSpPr>
        <p:spPr>
          <a:xfrm>
            <a:off x="914400" y="4617720"/>
            <a:ext cx="4754880" cy="1554480"/>
          </a:xfrm>
          <a:prstGeom prst="rect">
            <a:avLst/>
          </a:prstGeom>
          <a:noFill/>
        </p:spPr>
        <p:txBody>
          <a:bodyPr wrap="square">
            <a:spAutoFit/>
          </a:bodyPr>
          <a:lstStyle/>
          <a:p>
            <a:pPr>
              <a:spcBef>
                <a:spcPts val="200"/>
              </a:spcBef>
              <a:defRPr sz="1200">
                <a:solidFill>
                  <a:srgbClr val="1E293B"/>
                </a:solidFill>
              </a:defRPr>
            </a:pPr>
            <a:r>
              <a:t>•  Immediate Golden-Hour Intervention: Sub-second fall detection alerts caregivers before trauma worsens.</a:t>
            </a:r>
          </a:p>
          <a:p>
            <a:pPr>
              <a:spcBef>
                <a:spcPts val="600"/>
              </a:spcBef>
              <a:defRPr sz="1200">
                <a:solidFill>
                  <a:srgbClr val="1E293B"/>
                </a:solidFill>
              </a:defRPr>
            </a:pPr>
            <a:r>
              <a:t>•  Accessible Remote Monitoring: Families and doctors need instant access without expensive, bulky ICU equipment.</a:t>
            </a:r>
          </a:p>
        </p:txBody>
      </p:sp>
      <p:sp>
        <p:nvSpPr>
          <p:cNvPr id="14" name="Rounded Rectangle 13"/>
          <p:cNvSpPr/>
          <p:nvPr/>
        </p:nvSpPr>
        <p:spPr>
          <a:xfrm>
            <a:off x="6309360" y="4114800"/>
            <a:ext cx="5120640" cy="2194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297680"/>
            <a:ext cx="4663440" cy="365760"/>
          </a:xfrm>
          <a:prstGeom prst="rect">
            <a:avLst/>
          </a:prstGeom>
          <a:noFill/>
        </p:spPr>
        <p:txBody>
          <a:bodyPr wrap="square" lIns="0" tIns="0" rIns="0" bIns="0">
            <a:spAutoFit/>
          </a:bodyPr>
          <a:lstStyle/>
          <a:p>
            <a:pPr>
              <a:defRPr sz="1400" b="1">
                <a:solidFill>
                  <a:srgbClr val="01373D"/>
                </a:solidFill>
              </a:defRPr>
            </a:pPr>
            <a:r>
              <a:t>4. Scope of the Project</a:t>
            </a:r>
          </a:p>
        </p:txBody>
      </p:sp>
      <p:sp>
        <p:nvSpPr>
          <p:cNvPr id="16" name="TextBox 15"/>
          <p:cNvSpPr txBox="1"/>
          <p:nvPr/>
        </p:nvSpPr>
        <p:spPr>
          <a:xfrm>
            <a:off x="6492240" y="4617720"/>
            <a:ext cx="4754880" cy="1554480"/>
          </a:xfrm>
          <a:prstGeom prst="rect">
            <a:avLst/>
          </a:prstGeom>
          <a:noFill/>
        </p:spPr>
        <p:txBody>
          <a:bodyPr wrap="square">
            <a:spAutoFit/>
          </a:bodyPr>
          <a:lstStyle/>
          <a:p>
            <a:pPr>
              <a:spcBef>
                <a:spcPts val="200"/>
              </a:spcBef>
              <a:defRPr sz="1200">
                <a:solidFill>
                  <a:srgbClr val="1E293B"/>
                </a:solidFill>
              </a:defRPr>
            </a:pPr>
            <a:r>
              <a:t>•  Wearable Edge Unit: Dual sensing of 3-axis inertial motion and PPG optical pulse oximetry.</a:t>
            </a:r>
          </a:p>
          <a:p>
            <a:pPr>
              <a:spcBef>
                <a:spcPts val="600"/>
              </a:spcBef>
              <a:defRPr sz="1200">
                <a:solidFill>
                  <a:srgbClr val="1E293B"/>
                </a:solidFill>
              </a:defRPr>
            </a:pPr>
            <a:r>
              <a:t>•  Software Platform: Real-time WebSocket streaming, SQLite baseline records, and clinical risk safety scoring.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728655" cy="36576"/>
          </a:xfrm>
          <a:prstGeom prst="rect">
            <a:avLst/>
          </a:prstGeom>
          <a:solidFill>
            <a:srgbClr val="0E7490"/>
          </a:solidFill>
          <a:ln>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728655" cy="320040"/>
          </a:xfrm>
          <a:prstGeom prst="rect">
            <a:avLst/>
          </a:prstGeom>
          <a:noFill/>
        </p:spPr>
        <p:txBody>
          <a:bodyPr wrap="square" lIns="0" tIns="0" rIns="0" bIns="0">
            <a:spAutoFit/>
          </a:bodyPr>
          <a:lstStyle/>
          <a:p>
            <a:pPr>
              <a:defRPr sz="1000" b="1">
                <a:solidFill>
                  <a:srgbClr val="0E7490"/>
                </a:solidFill>
              </a:defRPr>
            </a:pPr>
            <a:r>
              <a:t>LITERATURE SURVEY &amp; SYSTEM SPECIFICATIONS</a:t>
            </a:r>
          </a:p>
        </p:txBody>
      </p:sp>
      <p:sp>
        <p:nvSpPr>
          <p:cNvPr id="4" name="TextBox 3"/>
          <p:cNvSpPr txBox="1"/>
          <p:nvPr/>
        </p:nvSpPr>
        <p:spPr>
          <a:xfrm>
            <a:off x="731520" y="868680"/>
            <a:ext cx="10728655" cy="594360"/>
          </a:xfrm>
          <a:prstGeom prst="rect">
            <a:avLst/>
          </a:prstGeom>
          <a:noFill/>
        </p:spPr>
        <p:txBody>
          <a:bodyPr wrap="square" lIns="0" tIns="0" rIns="0" bIns="0">
            <a:spAutoFit/>
          </a:bodyPr>
          <a:lstStyle/>
          <a:p>
            <a:pPr>
              <a:defRPr sz="2400" b="1">
                <a:solidFill>
                  <a:srgbClr val="01373D"/>
                </a:solidFill>
              </a:defRPr>
            </a:pPr>
            <a:r>
              <a:t>Slide 3: Background &amp; Requirements</a:t>
            </a:r>
          </a:p>
        </p:txBody>
      </p:sp>
      <p:sp>
        <p:nvSpPr>
          <p:cNvPr id="5" name="Rounded Rectangle 4"/>
          <p:cNvSpPr/>
          <p:nvPr/>
        </p:nvSpPr>
        <p:spPr>
          <a:xfrm>
            <a:off x="731520" y="1645920"/>
            <a:ext cx="512064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4663440" cy="365760"/>
          </a:xfrm>
          <a:prstGeom prst="rect">
            <a:avLst/>
          </a:prstGeom>
          <a:noFill/>
        </p:spPr>
        <p:txBody>
          <a:bodyPr wrap="square" lIns="0" tIns="0" rIns="0" bIns="0">
            <a:spAutoFit/>
          </a:bodyPr>
          <a:lstStyle/>
          <a:p>
            <a:pPr>
              <a:defRPr sz="1400" b="1">
                <a:solidFill>
                  <a:srgbClr val="01373D"/>
                </a:solidFill>
              </a:defRPr>
            </a:pPr>
            <a:r>
              <a:t>Related Work &amp; Existing Systems</a:t>
            </a:r>
          </a:p>
        </p:txBody>
      </p:sp>
      <p:sp>
        <p:nvSpPr>
          <p:cNvPr id="7" name="TextBox 6"/>
          <p:cNvSpPr txBox="1"/>
          <p:nvPr/>
        </p:nvSpPr>
        <p:spPr>
          <a:xfrm>
            <a:off x="914400" y="2148840"/>
            <a:ext cx="4754880" cy="4023360"/>
          </a:xfrm>
          <a:prstGeom prst="rect">
            <a:avLst/>
          </a:prstGeom>
          <a:noFill/>
        </p:spPr>
        <p:txBody>
          <a:bodyPr wrap="square">
            <a:spAutoFit/>
          </a:bodyPr>
          <a:lstStyle/>
          <a:p>
            <a:pPr>
              <a:spcBef>
                <a:spcPts val="800"/>
              </a:spcBef>
              <a:defRPr sz="1200" b="1">
                <a:solidFill>
                  <a:srgbClr val="01373D"/>
                </a:solidFill>
              </a:defRPr>
            </a:pPr>
            <a:r>
              <a:t>•  Current Commercial Smartwatches:</a:t>
            </a:r>
          </a:p>
          <a:p>
            <a:pPr>
              <a:spcBef>
                <a:spcPts val="200"/>
              </a:spcBef>
              <a:defRPr sz="1100">
                <a:solidFill>
                  <a:srgbClr val="1E293B"/>
                </a:solidFill>
              </a:defRPr>
            </a:pPr>
            <a:r>
              <a:t>    Apple Watch / Galaxy Watch offer fall detection but cost ₹30,000+, require daily charging, and lock data inside proprietary mobile apps.</a:t>
            </a:r>
          </a:p>
          <a:p>
            <a:pPr>
              <a:spcBef>
                <a:spcPts val="800"/>
              </a:spcBef>
              <a:defRPr sz="1200" b="1">
                <a:solidFill>
                  <a:srgbClr val="01373D"/>
                </a:solidFill>
              </a:defRPr>
            </a:pPr>
            <a:r>
              <a:t>•  Hospital Wired Telemetry Systems:</a:t>
            </a:r>
          </a:p>
          <a:p>
            <a:pPr>
              <a:spcBef>
                <a:spcPts val="200"/>
              </a:spcBef>
              <a:defRPr sz="1100">
                <a:solidFill>
                  <a:srgbClr val="1E293B"/>
                </a:solidFill>
              </a:defRPr>
            </a:pPr>
            <a:r>
              <a:t>    High precision but restrict patient mobility completely to bed; infeasible for home or elderly rehabilitation care.</a:t>
            </a:r>
          </a:p>
          <a:p>
            <a:pPr>
              <a:spcBef>
                <a:spcPts val="800"/>
              </a:spcBef>
              <a:defRPr sz="1200" b="1">
                <a:solidFill>
                  <a:srgbClr val="01373D"/>
                </a:solidFill>
              </a:defRPr>
            </a:pPr>
            <a:r>
              <a:t>•  Drawbacks of Existing Solutions:</a:t>
            </a:r>
          </a:p>
          <a:p>
            <a:pPr>
              <a:spcBef>
                <a:spcPts val="200"/>
              </a:spcBef>
              <a:defRPr sz="1100">
                <a:solidFill>
                  <a:srgbClr val="1E293B"/>
                </a:solidFill>
              </a:defRPr>
            </a:pPr>
            <a:r>
              <a:t>    1) High false alarm rates due to simple thresholding.</a:t>
            </a:r>
            <a:br/>
            <a:r>
              <a:t>2) High latency cloud-only architectures.</a:t>
            </a:r>
            <a:br/>
            <a:r>
              <a:t>3) Lack of unified clinical health safety scoring for family caregivers.</a:t>
            </a:r>
          </a:p>
        </p:txBody>
      </p:sp>
      <p:sp>
        <p:nvSpPr>
          <p:cNvPr id="8" name="Rounded Rectangle 7"/>
          <p:cNvSpPr/>
          <p:nvPr/>
        </p:nvSpPr>
        <p:spPr>
          <a:xfrm>
            <a:off x="6309360" y="1645920"/>
            <a:ext cx="512064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37960" y="1828800"/>
            <a:ext cx="4663440" cy="365760"/>
          </a:xfrm>
          <a:prstGeom prst="rect">
            <a:avLst/>
          </a:prstGeom>
          <a:noFill/>
        </p:spPr>
        <p:txBody>
          <a:bodyPr wrap="square" lIns="0" tIns="0" rIns="0" bIns="0">
            <a:spAutoFit/>
          </a:bodyPr>
          <a:lstStyle/>
          <a:p>
            <a:pPr>
              <a:defRPr sz="1400" b="1">
                <a:solidFill>
                  <a:srgbClr val="01373D"/>
                </a:solidFill>
              </a:defRPr>
            </a:pPr>
            <a:r>
              <a:t>Hardware &amp; Software Requirements</a:t>
            </a:r>
          </a:p>
        </p:txBody>
      </p:sp>
      <p:sp>
        <p:nvSpPr>
          <p:cNvPr id="10" name="TextBox 9"/>
          <p:cNvSpPr txBox="1"/>
          <p:nvPr/>
        </p:nvSpPr>
        <p:spPr>
          <a:xfrm>
            <a:off x="6492240" y="2148840"/>
            <a:ext cx="4754880" cy="4023360"/>
          </a:xfrm>
          <a:prstGeom prst="rect">
            <a:avLst/>
          </a:prstGeom>
          <a:noFill/>
        </p:spPr>
        <p:txBody>
          <a:bodyPr wrap="square">
            <a:spAutoFit/>
          </a:bodyPr>
          <a:lstStyle/>
          <a:p>
            <a:pPr>
              <a:spcBef>
                <a:spcPts val="800"/>
              </a:spcBef>
              <a:defRPr sz="1200" b="1">
                <a:solidFill>
                  <a:srgbClr val="0E7490"/>
                </a:solidFill>
              </a:defRPr>
            </a:pPr>
            <a:r>
              <a:t>•  Hardware Components Used:</a:t>
            </a:r>
          </a:p>
          <a:p>
            <a:pPr>
              <a:spcBef>
                <a:spcPts val="200"/>
              </a:spcBef>
              <a:defRPr sz="1100">
                <a:solidFill>
                  <a:srgbClr val="1E293B"/>
                </a:solidFill>
              </a:defRPr>
            </a:pPr>
            <a:r>
              <a:t>    • ESP32 NodeMCU: 32-bit dual-core Wi-Fi/BLE MCU</a:t>
            </a:r>
            <a:br/>
            <a:r>
              <a:t>• MPU-6050: 6-Axis Accelerometer + Gyroscope</a:t>
            </a:r>
            <a:br/>
            <a:r>
              <a:t>• MAX30102: Optical Heart-Rate &amp; SpO2 Sensor</a:t>
            </a:r>
            <a:br/>
            <a:r>
              <a:t>• 3.7V Li-ion Battery with TP4056 charging circuit</a:t>
            </a:r>
          </a:p>
          <a:p>
            <a:pPr>
              <a:spcBef>
                <a:spcPts val="800"/>
              </a:spcBef>
              <a:defRPr sz="1200" b="1">
                <a:solidFill>
                  <a:srgbClr val="0E7490"/>
                </a:solidFill>
              </a:defRPr>
            </a:pPr>
            <a:r>
              <a:t>•  Software &amp; Runtime Environment:</a:t>
            </a:r>
          </a:p>
          <a:p>
            <a:pPr>
              <a:spcBef>
                <a:spcPts val="200"/>
              </a:spcBef>
              <a:defRPr sz="1100">
                <a:solidFill>
                  <a:srgbClr val="1E293B"/>
                </a:solidFill>
              </a:defRPr>
            </a:pPr>
            <a:r>
              <a:t>    • Backend: Python 3.10+, FastAPI, Uvicorn ASGI</a:t>
            </a:r>
            <a:br/>
            <a:r>
              <a:t>• Database: SQLite (WAL mode) via aiosqlite</a:t>
            </a:r>
            <a:br/>
            <a:r>
              <a:t>• Frontend: Next.js 14, React 18, Tailwind CSS, Lucide</a:t>
            </a:r>
            <a:br/>
            <a:r>
              <a:t>• Communication: WebSocket protocol (RFC 6455)</a:t>
            </a:r>
          </a:p>
          <a:p>
            <a:pPr>
              <a:spcBef>
                <a:spcPts val="800"/>
              </a:spcBef>
              <a:defRPr sz="1200" b="1">
                <a:solidFill>
                  <a:srgbClr val="0E7490"/>
                </a:solidFill>
              </a:defRPr>
            </a:pPr>
            <a:r>
              <a:t>•  Development Tools:</a:t>
            </a:r>
          </a:p>
          <a:p>
            <a:pPr>
              <a:spcBef>
                <a:spcPts val="200"/>
              </a:spcBef>
              <a:defRPr sz="1100">
                <a:solidFill>
                  <a:srgbClr val="1E293B"/>
                </a:solidFill>
              </a:defRPr>
            </a:pPr>
            <a:r>
              <a:t>    • VS Code, Arduino IDE, Git &amp; GitHub, Postman API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728655" cy="36576"/>
          </a:xfrm>
          <a:prstGeom prst="rect">
            <a:avLst/>
          </a:prstGeom>
          <a:solidFill>
            <a:srgbClr val="0E7490"/>
          </a:solidFill>
          <a:ln>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728655" cy="320040"/>
          </a:xfrm>
          <a:prstGeom prst="rect">
            <a:avLst/>
          </a:prstGeom>
          <a:noFill/>
        </p:spPr>
        <p:txBody>
          <a:bodyPr wrap="square" lIns="0" tIns="0" rIns="0" bIns="0">
            <a:spAutoFit/>
          </a:bodyPr>
          <a:lstStyle/>
          <a:p>
            <a:pPr>
              <a:defRPr sz="1000" b="1">
                <a:solidFill>
                  <a:srgbClr val="0E7490"/>
                </a:solidFill>
              </a:defRPr>
            </a:pPr>
            <a:r>
              <a:t>CORE GOALS &amp; FUNCTIONAL TARGETS</a:t>
            </a:r>
          </a:p>
        </p:txBody>
      </p:sp>
      <p:sp>
        <p:nvSpPr>
          <p:cNvPr id="4" name="TextBox 3"/>
          <p:cNvSpPr txBox="1"/>
          <p:nvPr/>
        </p:nvSpPr>
        <p:spPr>
          <a:xfrm>
            <a:off x="731520" y="868680"/>
            <a:ext cx="10728655" cy="594360"/>
          </a:xfrm>
          <a:prstGeom prst="rect">
            <a:avLst/>
          </a:prstGeom>
          <a:noFill/>
        </p:spPr>
        <p:txBody>
          <a:bodyPr wrap="square" lIns="0" tIns="0" rIns="0" bIns="0">
            <a:spAutoFit/>
          </a:bodyPr>
          <a:lstStyle/>
          <a:p>
            <a:pPr>
              <a:defRPr sz="2400" b="1">
                <a:solidFill>
                  <a:srgbClr val="01373D"/>
                </a:solidFill>
              </a:defRPr>
            </a:pPr>
            <a:r>
              <a:t>Slide 4: Objectives of Proposed System</a:t>
            </a:r>
          </a:p>
        </p:txBody>
      </p:sp>
      <p:sp>
        <p:nvSpPr>
          <p:cNvPr id="5" name="Rounded Rectangle 4"/>
          <p:cNvSpPr/>
          <p:nvPr/>
        </p:nvSpPr>
        <p:spPr>
          <a:xfrm>
            <a:off x="731520" y="1645920"/>
            <a:ext cx="10728655" cy="841248"/>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4400" y="1810512"/>
            <a:ext cx="502920" cy="502920"/>
          </a:xfrm>
          <a:prstGeom prst="roundRect">
            <a:avLst/>
          </a:prstGeom>
          <a:solidFill>
            <a:srgbClr val="013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1</a:t>
            </a:r>
          </a:p>
        </p:txBody>
      </p:sp>
      <p:sp>
        <p:nvSpPr>
          <p:cNvPr id="7" name="TextBox 6"/>
          <p:cNvSpPr txBox="1"/>
          <p:nvPr/>
        </p:nvSpPr>
        <p:spPr>
          <a:xfrm>
            <a:off x="1600200" y="1755648"/>
            <a:ext cx="9692640" cy="640080"/>
          </a:xfrm>
          <a:prstGeom prst="rect">
            <a:avLst/>
          </a:prstGeom>
          <a:noFill/>
        </p:spPr>
        <p:txBody>
          <a:bodyPr wrap="square">
            <a:spAutoFit/>
          </a:bodyPr>
          <a:lstStyle/>
          <a:p>
            <a:pPr>
              <a:defRPr sz="1300" b="1">
                <a:solidFill>
                  <a:srgbClr val="01373D"/>
                </a:solidFill>
              </a:defRPr>
            </a:pPr>
            <a:r>
              <a:t>Objective 1: Automated Kinetic Fall Detection</a:t>
            </a:r>
          </a:p>
          <a:p>
            <a:pPr>
              <a:spcBef>
                <a:spcPts val="200"/>
              </a:spcBef>
              <a:defRPr sz="1100">
                <a:solidFill>
                  <a:srgbClr val="1E293B"/>
                </a:solidFill>
              </a:defRPr>
            </a:pPr>
            <a:r>
              <a:t>To engineer an autonomous, algorithm-driven fall detection mechanism using 3-axis Signal Vector Magnitude (SVM) to detect abrupt deceleration (&gt; 2.8g) and tilt disorientation.</a:t>
            </a:r>
          </a:p>
        </p:txBody>
      </p:sp>
      <p:sp>
        <p:nvSpPr>
          <p:cNvPr id="8" name="Rounded Rectangle 7"/>
          <p:cNvSpPr/>
          <p:nvPr/>
        </p:nvSpPr>
        <p:spPr>
          <a:xfrm>
            <a:off x="731520" y="2578608"/>
            <a:ext cx="10728655" cy="841248"/>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14400" y="2743200"/>
            <a:ext cx="502920" cy="502920"/>
          </a:xfrm>
          <a:prstGeom prst="roundRect">
            <a:avLst/>
          </a:prstGeom>
          <a:solidFill>
            <a:srgbClr val="013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2</a:t>
            </a:r>
          </a:p>
        </p:txBody>
      </p:sp>
      <p:sp>
        <p:nvSpPr>
          <p:cNvPr id="10" name="TextBox 9"/>
          <p:cNvSpPr txBox="1"/>
          <p:nvPr/>
        </p:nvSpPr>
        <p:spPr>
          <a:xfrm>
            <a:off x="1600200" y="2688336"/>
            <a:ext cx="9692640" cy="640080"/>
          </a:xfrm>
          <a:prstGeom prst="rect">
            <a:avLst/>
          </a:prstGeom>
          <a:noFill/>
        </p:spPr>
        <p:txBody>
          <a:bodyPr wrap="square">
            <a:spAutoFit/>
          </a:bodyPr>
          <a:lstStyle/>
          <a:p>
            <a:pPr>
              <a:defRPr sz="1300" b="1">
                <a:solidFill>
                  <a:srgbClr val="01373D"/>
                </a:solidFill>
              </a:defRPr>
            </a:pPr>
            <a:r>
              <a:t>Objective 2: Continuous Real-Time Vital Telemetry</a:t>
            </a:r>
          </a:p>
          <a:p>
            <a:pPr>
              <a:spcBef>
                <a:spcPts val="200"/>
              </a:spcBef>
              <a:defRPr sz="1100">
                <a:solidFill>
                  <a:srgbClr val="1E293B"/>
                </a:solidFill>
              </a:defRPr>
            </a:pPr>
            <a:r>
              <a:t>To non-invasively capture pulse rate (BPM), blood oxygen saturation (SpO2 %), and skin temperature at 1Hz frequency without causing patient discomfort.</a:t>
            </a:r>
          </a:p>
        </p:txBody>
      </p:sp>
      <p:sp>
        <p:nvSpPr>
          <p:cNvPr id="11" name="Rounded Rectangle 10"/>
          <p:cNvSpPr/>
          <p:nvPr/>
        </p:nvSpPr>
        <p:spPr>
          <a:xfrm>
            <a:off x="731520" y="3511296"/>
            <a:ext cx="10728655" cy="841248"/>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14400" y="3675888"/>
            <a:ext cx="502920" cy="502920"/>
          </a:xfrm>
          <a:prstGeom prst="roundRect">
            <a:avLst/>
          </a:prstGeom>
          <a:solidFill>
            <a:srgbClr val="013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3</a:t>
            </a:r>
          </a:p>
        </p:txBody>
      </p:sp>
      <p:sp>
        <p:nvSpPr>
          <p:cNvPr id="13" name="TextBox 12"/>
          <p:cNvSpPr txBox="1"/>
          <p:nvPr/>
        </p:nvSpPr>
        <p:spPr>
          <a:xfrm>
            <a:off x="1600200" y="3621024"/>
            <a:ext cx="9692640" cy="640080"/>
          </a:xfrm>
          <a:prstGeom prst="rect">
            <a:avLst/>
          </a:prstGeom>
          <a:noFill/>
        </p:spPr>
        <p:txBody>
          <a:bodyPr wrap="square">
            <a:spAutoFit/>
          </a:bodyPr>
          <a:lstStyle/>
          <a:p>
            <a:pPr>
              <a:defRPr sz="1300" b="1">
                <a:solidFill>
                  <a:srgbClr val="01373D"/>
                </a:solidFill>
              </a:defRPr>
            </a:pPr>
            <a:r>
              <a:t>Objective 3: Low-Latency Emergency Dispatch</a:t>
            </a:r>
          </a:p>
          <a:p>
            <a:pPr>
              <a:spcBef>
                <a:spcPts val="200"/>
              </a:spcBef>
              <a:defRPr sz="1100">
                <a:solidFill>
                  <a:srgbClr val="1E293B"/>
                </a:solidFill>
              </a:defRPr>
            </a:pPr>
            <a:r>
              <a:t>To transmit real-time telemetry packets over WebSockets with sub-250ms latency from physical impact to visual/auditory caregiver alert banners.</a:t>
            </a:r>
          </a:p>
        </p:txBody>
      </p:sp>
      <p:sp>
        <p:nvSpPr>
          <p:cNvPr id="14" name="Rounded Rectangle 13"/>
          <p:cNvSpPr/>
          <p:nvPr/>
        </p:nvSpPr>
        <p:spPr>
          <a:xfrm>
            <a:off x="731520" y="4443984"/>
            <a:ext cx="10728655" cy="841248"/>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4400" y="4608576"/>
            <a:ext cx="502920" cy="502920"/>
          </a:xfrm>
          <a:prstGeom prst="roundRect">
            <a:avLst/>
          </a:prstGeom>
          <a:solidFill>
            <a:srgbClr val="013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4</a:t>
            </a:r>
          </a:p>
        </p:txBody>
      </p:sp>
      <p:sp>
        <p:nvSpPr>
          <p:cNvPr id="16" name="TextBox 15"/>
          <p:cNvSpPr txBox="1"/>
          <p:nvPr/>
        </p:nvSpPr>
        <p:spPr>
          <a:xfrm>
            <a:off x="1600200" y="4553712"/>
            <a:ext cx="9692640" cy="640080"/>
          </a:xfrm>
          <a:prstGeom prst="rect">
            <a:avLst/>
          </a:prstGeom>
          <a:noFill/>
        </p:spPr>
        <p:txBody>
          <a:bodyPr wrap="square">
            <a:spAutoFit/>
          </a:bodyPr>
          <a:lstStyle/>
          <a:p>
            <a:pPr>
              <a:defRPr sz="1300" b="1">
                <a:solidFill>
                  <a:srgbClr val="01373D"/>
                </a:solidFill>
              </a:defRPr>
            </a:pPr>
            <a:r>
              <a:t>Objective 4: Secure &amp; Frictionless Guardian Access</a:t>
            </a:r>
          </a:p>
          <a:p>
            <a:pPr>
              <a:spcBef>
                <a:spcPts val="200"/>
              </a:spcBef>
              <a:defRPr sz="1100">
                <a:solidFill>
                  <a:srgbClr val="1E293B"/>
                </a:solidFill>
              </a:defRPr>
            </a:pPr>
            <a:r>
              <a:t>To provide an authenticated web dashboard featuring one-click Guardian passkeys, eliminating forgotten passwords during high-stress emergencies.</a:t>
            </a:r>
          </a:p>
        </p:txBody>
      </p:sp>
      <p:sp>
        <p:nvSpPr>
          <p:cNvPr id="17" name="Rounded Rectangle 16"/>
          <p:cNvSpPr/>
          <p:nvPr/>
        </p:nvSpPr>
        <p:spPr>
          <a:xfrm>
            <a:off x="731520" y="5376672"/>
            <a:ext cx="10728655" cy="841248"/>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14400" y="5541264"/>
            <a:ext cx="502920" cy="502920"/>
          </a:xfrm>
          <a:prstGeom prst="roundRect">
            <a:avLst/>
          </a:prstGeom>
          <a:solidFill>
            <a:srgbClr val="013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5</a:t>
            </a:r>
          </a:p>
        </p:txBody>
      </p:sp>
      <p:sp>
        <p:nvSpPr>
          <p:cNvPr id="19" name="TextBox 18"/>
          <p:cNvSpPr txBox="1"/>
          <p:nvPr/>
        </p:nvSpPr>
        <p:spPr>
          <a:xfrm>
            <a:off x="1600200" y="5486400"/>
            <a:ext cx="9692640" cy="640080"/>
          </a:xfrm>
          <a:prstGeom prst="rect">
            <a:avLst/>
          </a:prstGeom>
          <a:noFill/>
        </p:spPr>
        <p:txBody>
          <a:bodyPr wrap="square">
            <a:spAutoFit/>
          </a:bodyPr>
          <a:lstStyle/>
          <a:p>
            <a:pPr>
              <a:defRPr sz="1300" b="1">
                <a:solidFill>
                  <a:srgbClr val="01373D"/>
                </a:solidFill>
              </a:defRPr>
            </a:pPr>
            <a:r>
              <a:t>Objective 5: Proactive Clinical Safety Scoring</a:t>
            </a:r>
          </a:p>
          <a:p>
            <a:pPr>
              <a:spcBef>
                <a:spcPts val="200"/>
              </a:spcBef>
              <a:defRPr sz="1100">
                <a:solidFill>
                  <a:srgbClr val="1E293B"/>
                </a:solidFill>
              </a:defRPr>
            </a:pPr>
            <a:r>
              <a:t>To implement a clinical heuristic engine (NEWS2 inspired) that aggregates 30-day vital trends, sleep state, and fall history into an actionable 0-100 Health Safety Index.</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728655" cy="36576"/>
          </a:xfrm>
          <a:prstGeom prst="rect">
            <a:avLst/>
          </a:prstGeom>
          <a:solidFill>
            <a:srgbClr val="0E7490"/>
          </a:solidFill>
          <a:ln>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728655" cy="320040"/>
          </a:xfrm>
          <a:prstGeom prst="rect">
            <a:avLst/>
          </a:prstGeom>
          <a:noFill/>
        </p:spPr>
        <p:txBody>
          <a:bodyPr wrap="square" lIns="0" tIns="0" rIns="0" bIns="0">
            <a:spAutoFit/>
          </a:bodyPr>
          <a:lstStyle/>
          <a:p>
            <a:pPr>
              <a:defRPr sz="1000" b="1">
                <a:solidFill>
                  <a:srgbClr val="0E7490"/>
                </a:solidFill>
              </a:defRPr>
            </a:pPr>
            <a:r>
              <a:t>HIGH-LEVEL ARCHITECTURE &amp; UML DATA MODELS</a:t>
            </a:r>
          </a:p>
        </p:txBody>
      </p:sp>
      <p:sp>
        <p:nvSpPr>
          <p:cNvPr id="4" name="TextBox 3"/>
          <p:cNvSpPr txBox="1"/>
          <p:nvPr/>
        </p:nvSpPr>
        <p:spPr>
          <a:xfrm>
            <a:off x="731520" y="868680"/>
            <a:ext cx="10728655" cy="594360"/>
          </a:xfrm>
          <a:prstGeom prst="rect">
            <a:avLst/>
          </a:prstGeom>
          <a:noFill/>
        </p:spPr>
        <p:txBody>
          <a:bodyPr wrap="square" lIns="0" tIns="0" rIns="0" bIns="0">
            <a:spAutoFit/>
          </a:bodyPr>
          <a:lstStyle/>
          <a:p>
            <a:pPr>
              <a:defRPr sz="2400" b="1">
                <a:solidFill>
                  <a:srgbClr val="01373D"/>
                </a:solidFill>
              </a:defRPr>
            </a:pPr>
            <a:r>
              <a:t>Slide 5: System Design &amp; Architecture</a:t>
            </a:r>
          </a:p>
        </p:txBody>
      </p:sp>
      <p:sp>
        <p:nvSpPr>
          <p:cNvPr id="5" name="Rounded Rectangle 4"/>
          <p:cNvSpPr/>
          <p:nvPr/>
        </p:nvSpPr>
        <p:spPr>
          <a:xfrm>
            <a:off x="731520" y="1645920"/>
            <a:ext cx="512064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4663440" cy="365760"/>
          </a:xfrm>
          <a:prstGeom prst="rect">
            <a:avLst/>
          </a:prstGeom>
          <a:noFill/>
        </p:spPr>
        <p:txBody>
          <a:bodyPr wrap="square" lIns="0" tIns="0" rIns="0" bIns="0">
            <a:spAutoFit/>
          </a:bodyPr>
          <a:lstStyle/>
          <a:p>
            <a:pPr>
              <a:defRPr sz="1400" b="1">
                <a:solidFill>
                  <a:srgbClr val="01373D"/>
                </a:solidFill>
              </a:defRPr>
            </a:pPr>
            <a:r>
              <a:t>1. High-Level Architecture Flow</a:t>
            </a:r>
          </a:p>
        </p:txBody>
      </p:sp>
      <p:sp>
        <p:nvSpPr>
          <p:cNvPr id="7" name="TextBox 6"/>
          <p:cNvSpPr txBox="1"/>
          <p:nvPr/>
        </p:nvSpPr>
        <p:spPr>
          <a:xfrm>
            <a:off x="914400" y="2148840"/>
            <a:ext cx="4754880" cy="4023360"/>
          </a:xfrm>
          <a:prstGeom prst="rect">
            <a:avLst/>
          </a:prstGeom>
          <a:noFill/>
        </p:spPr>
        <p:txBody>
          <a:bodyPr wrap="square">
            <a:spAutoFit/>
          </a:bodyPr>
          <a:lstStyle/>
          <a:p>
            <a:pPr>
              <a:spcBef>
                <a:spcPts val="600"/>
              </a:spcBef>
              <a:defRPr sz="1200" b="1">
                <a:solidFill>
                  <a:srgbClr val="0E7490"/>
                </a:solidFill>
              </a:defRPr>
            </a:pPr>
            <a:r>
              <a:t>1. [Edge Layer] Wearable Smart Band</a:t>
            </a:r>
          </a:p>
          <a:p>
            <a:pPr>
              <a:spcBef>
                <a:spcPts val="100"/>
              </a:spcBef>
              <a:defRPr sz="1100">
                <a:solidFill>
                  <a:srgbClr val="1E293B"/>
                </a:solidFill>
              </a:defRPr>
            </a:pPr>
            <a:r>
              <a:t>    ESP32 collects raw MPU6050 (accel/gyro) and MAX30102 (PPG) samples at 100Hz and calculates Signal Vector Magnitude.</a:t>
            </a:r>
          </a:p>
          <a:p>
            <a:pPr>
              <a:spcBef>
                <a:spcPts val="600"/>
              </a:spcBef>
              <a:defRPr sz="1200" b="1">
                <a:solidFill>
                  <a:srgbClr val="0E7490"/>
                </a:solidFill>
              </a:defRPr>
            </a:pPr>
            <a:r>
              <a:t>2. [Communication Layer] Wireless Telemetry</a:t>
            </a:r>
          </a:p>
          <a:p>
            <a:pPr>
              <a:spcBef>
                <a:spcPts val="100"/>
              </a:spcBef>
              <a:defRPr sz="1100">
                <a:solidFill>
                  <a:srgbClr val="1E293B"/>
                </a:solidFill>
              </a:defRPr>
            </a:pPr>
            <a:r>
              <a:t>    High-priority JSON packets pushed via WebSocket protocol directly to local/cloud gateway.</a:t>
            </a:r>
          </a:p>
          <a:p>
            <a:pPr>
              <a:spcBef>
                <a:spcPts val="600"/>
              </a:spcBef>
              <a:defRPr sz="1200" b="1">
                <a:solidFill>
                  <a:srgbClr val="0E7490"/>
                </a:solidFill>
              </a:defRPr>
            </a:pPr>
            <a:r>
              <a:t>3. [Backend Service] FastAPI Engine</a:t>
            </a:r>
          </a:p>
          <a:p>
            <a:pPr>
              <a:spcBef>
                <a:spcPts val="100"/>
              </a:spcBef>
              <a:defRPr sz="1100">
                <a:solidFill>
                  <a:srgbClr val="1E293B"/>
                </a:solidFill>
              </a:defRPr>
            </a:pPr>
            <a:r>
              <a:t>    Ingests 1Hz telemetry, checks safety thresholds, evaluates sleep state, and logs records to SQLite.</a:t>
            </a:r>
          </a:p>
          <a:p>
            <a:pPr>
              <a:spcBef>
                <a:spcPts val="600"/>
              </a:spcBef>
              <a:defRPr sz="1200" b="1">
                <a:solidFill>
                  <a:srgbClr val="0E7490"/>
                </a:solidFill>
              </a:defRPr>
            </a:pPr>
            <a:r>
              <a:t>4. [Presentation Layer] Next.js Dashboard</a:t>
            </a:r>
          </a:p>
          <a:p>
            <a:pPr>
              <a:spcBef>
                <a:spcPts val="100"/>
              </a:spcBef>
              <a:defRPr sz="1100">
                <a:solidFill>
                  <a:srgbClr val="1E293B"/>
                </a:solidFill>
              </a:defRPr>
            </a:pPr>
            <a:r>
              <a:t>    Live visual ECG stream, audio siren alert modal, and 30-day historical health trend graphs.</a:t>
            </a:r>
          </a:p>
        </p:txBody>
      </p:sp>
      <p:sp>
        <p:nvSpPr>
          <p:cNvPr id="8" name="Rounded Rectangle 7"/>
          <p:cNvSpPr/>
          <p:nvPr/>
        </p:nvSpPr>
        <p:spPr>
          <a:xfrm>
            <a:off x="6309360" y="1645920"/>
            <a:ext cx="512064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37960" y="1828800"/>
            <a:ext cx="4663440" cy="365760"/>
          </a:xfrm>
          <a:prstGeom prst="rect">
            <a:avLst/>
          </a:prstGeom>
          <a:noFill/>
        </p:spPr>
        <p:txBody>
          <a:bodyPr wrap="square" lIns="0" tIns="0" rIns="0" bIns="0">
            <a:spAutoFit/>
          </a:bodyPr>
          <a:lstStyle/>
          <a:p>
            <a:pPr>
              <a:defRPr sz="1400" b="1">
                <a:solidFill>
                  <a:srgbClr val="01373D"/>
                </a:solidFill>
              </a:defRPr>
            </a:pPr>
            <a:r>
              <a:t>2. UML &amp; Data Model Diagrams</a:t>
            </a:r>
          </a:p>
        </p:txBody>
      </p:sp>
      <p:sp>
        <p:nvSpPr>
          <p:cNvPr id="10" name="TextBox 9"/>
          <p:cNvSpPr txBox="1"/>
          <p:nvPr/>
        </p:nvSpPr>
        <p:spPr>
          <a:xfrm>
            <a:off x="6492240" y="2148840"/>
            <a:ext cx="4754880" cy="4023360"/>
          </a:xfrm>
          <a:prstGeom prst="rect">
            <a:avLst/>
          </a:prstGeom>
          <a:noFill/>
        </p:spPr>
        <p:txBody>
          <a:bodyPr wrap="square">
            <a:spAutoFit/>
          </a:bodyPr>
          <a:lstStyle/>
          <a:p>
            <a:pPr>
              <a:spcBef>
                <a:spcPts val="600"/>
              </a:spcBef>
              <a:defRPr sz="1200" b="1">
                <a:solidFill>
                  <a:srgbClr val="01373D"/>
                </a:solidFill>
              </a:defRPr>
            </a:pPr>
            <a:r>
              <a:t>•  Use Case Diagram:</a:t>
            </a:r>
          </a:p>
          <a:p>
            <a:pPr>
              <a:spcBef>
                <a:spcPts val="100"/>
              </a:spcBef>
              <a:defRPr sz="1100">
                <a:solidFill>
                  <a:srgbClr val="1E293B"/>
                </a:solidFill>
              </a:defRPr>
            </a:pPr>
            <a:r>
              <a:t>    Actors: Patient, Guardian, Wearable Node. Use cases: Transmit Vitals, Detect Fall, Acknowledge Alert, View 30-Day Trends.</a:t>
            </a:r>
          </a:p>
          <a:p>
            <a:pPr>
              <a:spcBef>
                <a:spcPts val="600"/>
              </a:spcBef>
              <a:defRPr sz="1200" b="1">
                <a:solidFill>
                  <a:srgbClr val="01373D"/>
                </a:solidFill>
              </a:defRPr>
            </a:pPr>
            <a:r>
              <a:t>•  Activity Diagram:</a:t>
            </a:r>
          </a:p>
          <a:p>
            <a:pPr>
              <a:spcBef>
                <a:spcPts val="100"/>
              </a:spcBef>
              <a:defRPr sz="1100">
                <a:solidFill>
                  <a:srgbClr val="1E293B"/>
                </a:solidFill>
              </a:defRPr>
            </a:pPr>
            <a:r>
              <a:t>    Start -&gt; Sample IMU &amp; PPG -&gt; Is SVM &gt; 2.8g? -&gt; Yes: Trigger Audio/Visual Alert -&gt; No: Stream Normal Packet -&gt; Store in SQLite.</a:t>
            </a:r>
          </a:p>
          <a:p>
            <a:pPr>
              <a:spcBef>
                <a:spcPts val="600"/>
              </a:spcBef>
              <a:defRPr sz="1200" b="1">
                <a:solidFill>
                  <a:srgbClr val="01373D"/>
                </a:solidFill>
              </a:defRPr>
            </a:pPr>
            <a:r>
              <a:t>•  Sequence Diagram:</a:t>
            </a:r>
          </a:p>
          <a:p>
            <a:pPr>
              <a:spcBef>
                <a:spcPts val="100"/>
              </a:spcBef>
              <a:defRPr sz="1100">
                <a:solidFill>
                  <a:srgbClr val="1E293B"/>
                </a:solidFill>
              </a:defRPr>
            </a:pPr>
            <a:r>
              <a:t>    ESP32 Node -&gt; (WebSocket) -&gt; FastAPI Router -&gt; (Broadcast) -&gt; Next.js Client -&gt; Guardian Browser Audio Warning.</a:t>
            </a:r>
          </a:p>
          <a:p>
            <a:pPr>
              <a:spcBef>
                <a:spcPts val="600"/>
              </a:spcBef>
              <a:defRPr sz="1200" b="1">
                <a:solidFill>
                  <a:srgbClr val="01373D"/>
                </a:solidFill>
              </a:defRPr>
            </a:pPr>
            <a:r>
              <a:t>•  Class Diagram:</a:t>
            </a:r>
          </a:p>
          <a:p>
            <a:pPr>
              <a:spcBef>
                <a:spcPts val="100"/>
              </a:spcBef>
              <a:defRPr sz="1100">
                <a:solidFill>
                  <a:srgbClr val="1E293B"/>
                </a:solidFill>
              </a:defRPr>
            </a:pPr>
            <a:r>
              <a:t>    Pydantic Schemas: TelemetryPacket, PatientInfo, RiskAssessment, DailySummary, GuardianModel.</a:t>
            </a:r>
          </a:p>
          <a:p>
            <a:pPr>
              <a:spcBef>
                <a:spcPts val="600"/>
              </a:spcBef>
              <a:defRPr sz="1200" b="1">
                <a:solidFill>
                  <a:srgbClr val="01373D"/>
                </a:solidFill>
              </a:defRPr>
            </a:pPr>
            <a:r>
              <a:t>•  Component Diagram:</a:t>
            </a:r>
          </a:p>
          <a:p>
            <a:pPr>
              <a:spcBef>
                <a:spcPts val="100"/>
              </a:spcBef>
              <a:defRPr sz="1100">
                <a:solidFill>
                  <a:srgbClr val="1E293B"/>
                </a:solidFill>
              </a:defRPr>
            </a:pPr>
            <a:r>
              <a:t>    ESP32 Firmware Node, FastAPI Web Server, SQLite Storage Layer, Next.js Single Page App.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728655" cy="36576"/>
          </a:xfrm>
          <a:prstGeom prst="rect">
            <a:avLst/>
          </a:prstGeom>
          <a:solidFill>
            <a:srgbClr val="0E7490"/>
          </a:solidFill>
          <a:ln>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728655" cy="320040"/>
          </a:xfrm>
          <a:prstGeom prst="rect">
            <a:avLst/>
          </a:prstGeom>
          <a:noFill/>
        </p:spPr>
        <p:txBody>
          <a:bodyPr wrap="square" lIns="0" tIns="0" rIns="0" bIns="0">
            <a:spAutoFit/>
          </a:bodyPr>
          <a:lstStyle/>
          <a:p>
            <a:pPr>
              <a:defRPr sz="1000" b="1">
                <a:solidFill>
                  <a:srgbClr val="0E7490"/>
                </a:solidFill>
              </a:defRPr>
            </a:pPr>
            <a:r>
              <a:t>SOFTWARE STACK &amp; ENGINEERING LIFECYCLE</a:t>
            </a:r>
          </a:p>
        </p:txBody>
      </p:sp>
      <p:sp>
        <p:nvSpPr>
          <p:cNvPr id="4" name="TextBox 3"/>
          <p:cNvSpPr txBox="1"/>
          <p:nvPr/>
        </p:nvSpPr>
        <p:spPr>
          <a:xfrm>
            <a:off x="731520" y="868680"/>
            <a:ext cx="10728655" cy="594360"/>
          </a:xfrm>
          <a:prstGeom prst="rect">
            <a:avLst/>
          </a:prstGeom>
          <a:noFill/>
        </p:spPr>
        <p:txBody>
          <a:bodyPr wrap="square" lIns="0" tIns="0" rIns="0" bIns="0">
            <a:spAutoFit/>
          </a:bodyPr>
          <a:lstStyle/>
          <a:p>
            <a:pPr>
              <a:defRPr sz="2400" b="1">
                <a:solidFill>
                  <a:srgbClr val="01373D"/>
                </a:solidFill>
              </a:defRPr>
            </a:pPr>
            <a:r>
              <a:t>Slide 6: Implementation &amp; Tech Stack</a:t>
            </a:r>
          </a:p>
        </p:txBody>
      </p:sp>
      <p:sp>
        <p:nvSpPr>
          <p:cNvPr id="5" name="Rounded Rectangle 4"/>
          <p:cNvSpPr/>
          <p:nvPr/>
        </p:nvSpPr>
        <p:spPr>
          <a:xfrm>
            <a:off x="731520" y="1645920"/>
            <a:ext cx="512064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4663440" cy="365760"/>
          </a:xfrm>
          <a:prstGeom prst="rect">
            <a:avLst/>
          </a:prstGeom>
          <a:noFill/>
        </p:spPr>
        <p:txBody>
          <a:bodyPr wrap="square" lIns="0" tIns="0" rIns="0" bIns="0">
            <a:spAutoFit/>
          </a:bodyPr>
          <a:lstStyle/>
          <a:p>
            <a:pPr>
              <a:defRPr sz="1400" b="1">
                <a:solidFill>
                  <a:srgbClr val="01373D"/>
                </a:solidFill>
              </a:defRPr>
            </a:pPr>
            <a:r>
              <a:t>1. Programming Languages &amp; Tools</a:t>
            </a:r>
          </a:p>
        </p:txBody>
      </p:sp>
      <p:sp>
        <p:nvSpPr>
          <p:cNvPr id="7" name="TextBox 6"/>
          <p:cNvSpPr txBox="1"/>
          <p:nvPr/>
        </p:nvSpPr>
        <p:spPr>
          <a:xfrm>
            <a:off x="914400" y="2148840"/>
            <a:ext cx="4754880" cy="4023360"/>
          </a:xfrm>
          <a:prstGeom prst="rect">
            <a:avLst/>
          </a:prstGeom>
          <a:noFill/>
        </p:spPr>
        <p:txBody>
          <a:bodyPr wrap="square">
            <a:spAutoFit/>
          </a:bodyPr>
          <a:lstStyle/>
          <a:p>
            <a:pPr>
              <a:spcBef>
                <a:spcPts val="800"/>
              </a:spcBef>
              <a:defRPr sz="1200" b="1">
                <a:solidFill>
                  <a:srgbClr val="01373D"/>
                </a:solidFill>
              </a:defRPr>
            </a:pPr>
            <a:r>
              <a:t>•  Frontend Technology:</a:t>
            </a:r>
          </a:p>
          <a:p>
            <a:pPr>
              <a:spcBef>
                <a:spcPts val="200"/>
              </a:spcBef>
              <a:defRPr sz="1100">
                <a:solidFill>
                  <a:srgbClr val="1E293B"/>
                </a:solidFill>
              </a:defRPr>
            </a:pPr>
            <a:r>
              <a:t>    Next.js 14 (App Router), React 18, Tailwind CSS, Lucide React icons, Web Audio API for emergency siren.</a:t>
            </a:r>
          </a:p>
          <a:p>
            <a:pPr>
              <a:spcBef>
                <a:spcPts val="800"/>
              </a:spcBef>
              <a:defRPr sz="1200" b="1">
                <a:solidFill>
                  <a:srgbClr val="01373D"/>
                </a:solidFill>
              </a:defRPr>
            </a:pPr>
            <a:r>
              <a:t>•  Backend Services:</a:t>
            </a:r>
          </a:p>
          <a:p>
            <a:pPr>
              <a:spcBef>
                <a:spcPts val="200"/>
              </a:spcBef>
              <a:defRPr sz="1100">
                <a:solidFill>
                  <a:srgbClr val="1E293B"/>
                </a:solidFill>
              </a:defRPr>
            </a:pPr>
            <a:r>
              <a:t>    Python 3.10+, FastAPI framework, Uvicorn ASGI Server, Pydantic validation, aiosqlite for asynchronous DB operations.</a:t>
            </a:r>
          </a:p>
          <a:p>
            <a:pPr>
              <a:spcBef>
                <a:spcPts val="800"/>
              </a:spcBef>
              <a:defRPr sz="1200" b="1">
                <a:solidFill>
                  <a:srgbClr val="01373D"/>
                </a:solidFill>
              </a:defRPr>
            </a:pPr>
            <a:r>
              <a:t>•  Database Engine:</a:t>
            </a:r>
          </a:p>
          <a:p>
            <a:pPr>
              <a:spcBef>
                <a:spcPts val="200"/>
              </a:spcBef>
              <a:defRPr sz="1100">
                <a:solidFill>
                  <a:srgbClr val="1E293B"/>
                </a:solidFill>
              </a:defRPr>
            </a:pPr>
            <a:r>
              <a:t>    SQLite3 with Write-Ahead Logging (WAL) for high concurrency and sub-millisecond query execution.</a:t>
            </a:r>
          </a:p>
          <a:p>
            <a:pPr>
              <a:spcBef>
                <a:spcPts val="800"/>
              </a:spcBef>
              <a:defRPr sz="1200" b="1">
                <a:solidFill>
                  <a:srgbClr val="01373D"/>
                </a:solidFill>
              </a:defRPr>
            </a:pPr>
            <a:r>
              <a:t>•  Security &amp; Auth:</a:t>
            </a:r>
          </a:p>
          <a:p>
            <a:pPr>
              <a:spcBef>
                <a:spcPts val="200"/>
              </a:spcBef>
              <a:defRPr sz="1100">
                <a:solidFill>
                  <a:srgbClr val="1E293B"/>
                </a:solidFill>
              </a:defRPr>
            </a:pPr>
            <a:r>
              <a:t>    Argon2 / SHA-256 passwordless Guardian Passkey system stored with secure HTTP-only session cookies.</a:t>
            </a:r>
          </a:p>
        </p:txBody>
      </p:sp>
      <p:sp>
        <p:nvSpPr>
          <p:cNvPr id="8" name="Rounded Rectangle 7"/>
          <p:cNvSpPr/>
          <p:nvPr/>
        </p:nvSpPr>
        <p:spPr>
          <a:xfrm>
            <a:off x="6309360" y="1645920"/>
            <a:ext cx="512064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37960" y="1828800"/>
            <a:ext cx="4663440" cy="365760"/>
          </a:xfrm>
          <a:prstGeom prst="rect">
            <a:avLst/>
          </a:prstGeom>
          <a:noFill/>
        </p:spPr>
        <p:txBody>
          <a:bodyPr wrap="square" lIns="0" tIns="0" rIns="0" bIns="0">
            <a:spAutoFit/>
          </a:bodyPr>
          <a:lstStyle/>
          <a:p>
            <a:pPr>
              <a:defRPr sz="1400" b="1">
                <a:solidFill>
                  <a:srgbClr val="01373D"/>
                </a:solidFill>
              </a:defRPr>
            </a:pPr>
            <a:r>
              <a:t>2. Development Lifecycle &amp; Process</a:t>
            </a:r>
          </a:p>
        </p:txBody>
      </p:sp>
      <p:sp>
        <p:nvSpPr>
          <p:cNvPr id="10" name="TextBox 9"/>
          <p:cNvSpPr txBox="1"/>
          <p:nvPr/>
        </p:nvSpPr>
        <p:spPr>
          <a:xfrm>
            <a:off x="6492240" y="2148840"/>
            <a:ext cx="4754880" cy="4023360"/>
          </a:xfrm>
          <a:prstGeom prst="rect">
            <a:avLst/>
          </a:prstGeom>
          <a:noFill/>
        </p:spPr>
        <p:txBody>
          <a:bodyPr wrap="square">
            <a:spAutoFit/>
          </a:bodyPr>
          <a:lstStyle/>
          <a:p>
            <a:pPr>
              <a:spcBef>
                <a:spcPts val="600"/>
              </a:spcBef>
              <a:defRPr sz="1200" b="1">
                <a:solidFill>
                  <a:srgbClr val="0E7490"/>
                </a:solidFill>
              </a:defRPr>
            </a:pPr>
            <a:r>
              <a:t>•  Phase 1: Requirements Analysis</a:t>
            </a:r>
          </a:p>
          <a:p>
            <a:pPr>
              <a:spcBef>
                <a:spcPts val="200"/>
              </a:spcBef>
              <a:defRPr sz="1100">
                <a:solidFill>
                  <a:srgbClr val="1E293B"/>
                </a:solidFill>
              </a:defRPr>
            </a:pPr>
            <a:r>
              <a:t>    Identified clinical thresholds: Normal HR (50-110 bpm), SpO2 (&gt;92%), and fall impact threshold (&gt;2.8g).</a:t>
            </a:r>
          </a:p>
          <a:p>
            <a:pPr>
              <a:spcBef>
                <a:spcPts val="600"/>
              </a:spcBef>
              <a:defRPr sz="1200" b="1">
                <a:solidFill>
                  <a:srgbClr val="0E7490"/>
                </a:solidFill>
              </a:defRPr>
            </a:pPr>
            <a:r>
              <a:t>•  Phase 2: Architectural Design</a:t>
            </a:r>
          </a:p>
          <a:p>
            <a:pPr>
              <a:spcBef>
                <a:spcPts val="200"/>
              </a:spcBef>
              <a:defRPr sz="1100">
                <a:solidFill>
                  <a:srgbClr val="1E293B"/>
                </a:solidFill>
              </a:defRPr>
            </a:pPr>
            <a:r>
              <a:t>    Designed loose coupling between sensor node and web UI using WebSocket pub/sub pattern.</a:t>
            </a:r>
          </a:p>
          <a:p>
            <a:pPr>
              <a:spcBef>
                <a:spcPts val="600"/>
              </a:spcBef>
              <a:defRPr sz="1200" b="1">
                <a:solidFill>
                  <a:srgbClr val="0E7490"/>
                </a:solidFill>
              </a:defRPr>
            </a:pPr>
            <a:r>
              <a:t>•  Phase 3: Implementation &amp; Coding</a:t>
            </a:r>
          </a:p>
          <a:p>
            <a:pPr>
              <a:spcBef>
                <a:spcPts val="200"/>
              </a:spcBef>
              <a:defRPr sz="1100">
                <a:solidFill>
                  <a:srgbClr val="1E293B"/>
                </a:solidFill>
              </a:defRPr>
            </a:pPr>
            <a:r>
              <a:t>    C++ ESP32 firmware development, asynchronous Python FastAPI routers, and responsive React UI components.</a:t>
            </a:r>
          </a:p>
          <a:p>
            <a:pPr>
              <a:spcBef>
                <a:spcPts val="600"/>
              </a:spcBef>
              <a:defRPr sz="1200" b="1">
                <a:solidFill>
                  <a:srgbClr val="0E7490"/>
                </a:solidFill>
              </a:defRPr>
            </a:pPr>
            <a:r>
              <a:t>•  Phase 4: Verification &amp; Testing</a:t>
            </a:r>
          </a:p>
          <a:p>
            <a:pPr>
              <a:spcBef>
                <a:spcPts val="200"/>
              </a:spcBef>
              <a:defRPr sz="1100">
                <a:solidFill>
                  <a:srgbClr val="1E293B"/>
                </a:solidFill>
              </a:defRPr>
            </a:pPr>
            <a:r>
              <a:t>    Simulated kinetic drops, packet burst stress tests, network disconnect reconnection routines.</a:t>
            </a:r>
          </a:p>
          <a:p>
            <a:pPr>
              <a:spcBef>
                <a:spcPts val="600"/>
              </a:spcBef>
              <a:defRPr sz="1200" b="1">
                <a:solidFill>
                  <a:srgbClr val="0E7490"/>
                </a:solidFill>
              </a:defRPr>
            </a:pPr>
            <a:r>
              <a:t>•  Phase 5: Deployment</a:t>
            </a:r>
          </a:p>
          <a:p>
            <a:pPr>
              <a:spcBef>
                <a:spcPts val="200"/>
              </a:spcBef>
              <a:defRPr sz="1100">
                <a:solidFill>
                  <a:srgbClr val="1E293B"/>
                </a:solidFill>
              </a:defRPr>
            </a:pPr>
            <a:r>
              <a:t>    Production Next.js build prerendered with service worker offline caching.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728655" cy="36576"/>
          </a:xfrm>
          <a:prstGeom prst="rect">
            <a:avLst/>
          </a:prstGeom>
          <a:solidFill>
            <a:srgbClr val="0E7490"/>
          </a:solidFill>
          <a:ln>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728655" cy="320040"/>
          </a:xfrm>
          <a:prstGeom prst="rect">
            <a:avLst/>
          </a:prstGeom>
          <a:noFill/>
        </p:spPr>
        <p:txBody>
          <a:bodyPr wrap="square" lIns="0" tIns="0" rIns="0" bIns="0">
            <a:spAutoFit/>
          </a:bodyPr>
          <a:lstStyle/>
          <a:p>
            <a:pPr>
              <a:defRPr sz="1000" b="1">
                <a:solidFill>
                  <a:srgbClr val="0E7490"/>
                </a:solidFill>
              </a:defRPr>
            </a:pPr>
            <a:r>
              <a:t>RELATIONAL MODEL &amp; TABLE SPECIFICATIONS</a:t>
            </a:r>
          </a:p>
        </p:txBody>
      </p:sp>
      <p:sp>
        <p:nvSpPr>
          <p:cNvPr id="4" name="TextBox 3"/>
          <p:cNvSpPr txBox="1"/>
          <p:nvPr/>
        </p:nvSpPr>
        <p:spPr>
          <a:xfrm>
            <a:off x="731520" y="868680"/>
            <a:ext cx="10728655" cy="594360"/>
          </a:xfrm>
          <a:prstGeom prst="rect">
            <a:avLst/>
          </a:prstGeom>
          <a:noFill/>
        </p:spPr>
        <p:txBody>
          <a:bodyPr wrap="square" lIns="0" tIns="0" rIns="0" bIns="0">
            <a:spAutoFit/>
          </a:bodyPr>
          <a:lstStyle/>
          <a:p>
            <a:pPr>
              <a:defRPr sz="2400" b="1">
                <a:solidFill>
                  <a:srgbClr val="01373D"/>
                </a:solidFill>
              </a:defRPr>
            </a:pPr>
            <a:r>
              <a:t>Slide 7: Database Design &amp; Schema</a:t>
            </a:r>
          </a:p>
        </p:txBody>
      </p:sp>
      <p:sp>
        <p:nvSpPr>
          <p:cNvPr id="5" name="Rounded Rectangle 4"/>
          <p:cNvSpPr/>
          <p:nvPr/>
        </p:nvSpPr>
        <p:spPr>
          <a:xfrm>
            <a:off x="731520" y="1645920"/>
            <a:ext cx="10728655"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10271455" cy="365760"/>
          </a:xfrm>
          <a:prstGeom prst="rect">
            <a:avLst/>
          </a:prstGeom>
          <a:noFill/>
        </p:spPr>
        <p:txBody>
          <a:bodyPr wrap="square" lIns="0" tIns="0" rIns="0" bIns="0">
            <a:spAutoFit/>
          </a:bodyPr>
          <a:lstStyle/>
          <a:p>
            <a:pPr>
              <a:defRPr sz="1400" b="1">
                <a:solidFill>
                  <a:srgbClr val="01373D"/>
                </a:solidFill>
              </a:defRPr>
            </a:pPr>
            <a:r>
              <a:t>Database Tables &amp; Relational Schema (SQLite)</a:t>
            </a:r>
          </a:p>
        </p:txBody>
      </p:sp>
      <p:graphicFrame>
        <p:nvGraphicFramePr>
          <p:cNvPr id="7" name="Table 6"/>
          <p:cNvGraphicFramePr>
            <a:graphicFrameLocks noGrp="1"/>
          </p:cNvGraphicFramePr>
          <p:nvPr/>
        </p:nvGraphicFramePr>
        <p:xfrm>
          <a:off x="914400" y="2148840"/>
          <a:ext cx="10362895" cy="2194560"/>
        </p:xfrm>
        <a:graphic>
          <a:graphicData uri="http://schemas.openxmlformats.org/drawingml/2006/table">
            <a:tbl>
              <a:tblPr firstRow="1" bandRow="1">
                <a:tableStyleId>{5C22544A-7EE6-4342-B048-85BDC9FD1C3A}</a:tableStyleId>
              </a:tblPr>
              <a:tblGrid>
                <a:gridCol w="1645920"/>
                <a:gridCol w="3931920"/>
                <a:gridCol w="2011680"/>
                <a:gridCol w="2773375"/>
              </a:tblGrid>
              <a:tr h="438912">
                <a:tc>
                  <a:txBody>
                    <a:bodyPr/>
                    <a:lstStyle/>
                    <a:p>
                      <a:pPr>
                        <a:defRPr b="1" sz="1100">
                          <a:solidFill>
                            <a:srgbClr val="FFFFFF"/>
                          </a:solidFill>
                        </a:defRPr>
                      </a:pPr>
                      <a:r>
                        <a:t>Table Name</a:t>
                      </a:r>
                    </a:p>
                  </a:txBody>
                  <a:tcPr>
                    <a:solidFill>
                      <a:srgbClr val="01373D"/>
                    </a:solidFill>
                  </a:tcPr>
                </a:tc>
                <a:tc>
                  <a:txBody>
                    <a:bodyPr/>
                    <a:lstStyle/>
                    <a:p>
                      <a:pPr>
                        <a:defRPr b="1" sz="1100">
                          <a:solidFill>
                            <a:srgbClr val="FFFFFF"/>
                          </a:solidFill>
                        </a:defRPr>
                      </a:pPr>
                      <a:r>
                        <a:t>Attributes &amp; Columns</a:t>
                      </a:r>
                    </a:p>
                  </a:txBody>
                  <a:tcPr>
                    <a:solidFill>
                      <a:srgbClr val="01373D"/>
                    </a:solidFill>
                  </a:tcPr>
                </a:tc>
                <a:tc>
                  <a:txBody>
                    <a:bodyPr/>
                    <a:lstStyle/>
                    <a:p>
                      <a:pPr>
                        <a:defRPr b="1" sz="1100">
                          <a:solidFill>
                            <a:srgbClr val="FFFFFF"/>
                          </a:solidFill>
                        </a:defRPr>
                      </a:pPr>
                      <a:r>
                        <a:t>Primary / Foreign Key</a:t>
                      </a:r>
                    </a:p>
                  </a:txBody>
                  <a:tcPr>
                    <a:solidFill>
                      <a:srgbClr val="01373D"/>
                    </a:solidFill>
                  </a:tcPr>
                </a:tc>
                <a:tc>
                  <a:txBody>
                    <a:bodyPr/>
                    <a:lstStyle/>
                    <a:p>
                      <a:pPr>
                        <a:defRPr b="1" sz="1100">
                          <a:solidFill>
                            <a:srgbClr val="FFFFFF"/>
                          </a:solidFill>
                        </a:defRPr>
                      </a:pPr>
                      <a:r>
                        <a:t>Description</a:t>
                      </a:r>
                    </a:p>
                  </a:txBody>
                  <a:tcPr>
                    <a:solidFill>
                      <a:srgbClr val="01373D"/>
                    </a:solidFill>
                  </a:tcPr>
                </a:tc>
              </a:tr>
              <a:tr h="438912">
                <a:tc>
                  <a:txBody>
                    <a:bodyPr/>
                    <a:lstStyle/>
                    <a:p>
                      <a:pPr>
                        <a:defRPr sz="1000">
                          <a:solidFill>
                            <a:srgbClr val="1E293B"/>
                          </a:solidFill>
                        </a:defRPr>
                      </a:pPr>
                      <a:r>
                        <a:t>guardians</a:t>
                      </a:r>
                    </a:p>
                  </a:txBody>
                  <a:tcPr>
                    <a:solidFill>
                      <a:srgbClr val="F1F5F9"/>
                    </a:solidFill>
                  </a:tcPr>
                </a:tc>
                <a:tc>
                  <a:txBody>
                    <a:bodyPr/>
                    <a:lstStyle/>
                    <a:p>
                      <a:pPr>
                        <a:defRPr sz="1000">
                          <a:solidFill>
                            <a:srgbClr val="1E293B"/>
                          </a:solidFill>
                        </a:defRPr>
                      </a:pPr>
                      <a:r>
                        <a:t>id, phone, email, full_name, band_id, passkey_hash, created_at</a:t>
                      </a:r>
                    </a:p>
                  </a:txBody>
                  <a:tcPr>
                    <a:solidFill>
                      <a:srgbClr val="F1F5F9"/>
                    </a:solidFill>
                  </a:tcPr>
                </a:tc>
                <a:tc>
                  <a:txBody>
                    <a:bodyPr/>
                    <a:lstStyle/>
                    <a:p>
                      <a:pPr>
                        <a:defRPr sz="1000">
                          <a:solidFill>
                            <a:srgbClr val="1E293B"/>
                          </a:solidFill>
                        </a:defRPr>
                      </a:pPr>
                      <a:r>
                        <a:t>PK: id</a:t>
                      </a:r>
                      <a:br/>
                      <a:r>
                        <a:t>FK: band_id</a:t>
                      </a:r>
                    </a:p>
                  </a:txBody>
                  <a:tcPr>
                    <a:solidFill>
                      <a:srgbClr val="F1F5F9"/>
                    </a:solidFill>
                  </a:tcPr>
                </a:tc>
                <a:tc>
                  <a:txBody>
                    <a:bodyPr/>
                    <a:lstStyle/>
                    <a:p>
                      <a:pPr>
                        <a:defRPr sz="1000">
                          <a:solidFill>
                            <a:srgbClr val="1E293B"/>
                          </a:solidFill>
                        </a:defRPr>
                      </a:pPr>
                      <a:r>
                        <a:t>Caregiver profiles authorized to monitor specific bands</a:t>
                      </a:r>
                    </a:p>
                  </a:txBody>
                  <a:tcPr>
                    <a:solidFill>
                      <a:srgbClr val="F1F5F9"/>
                    </a:solidFill>
                  </a:tcPr>
                </a:tc>
              </a:tr>
              <a:tr h="438912">
                <a:tc>
                  <a:txBody>
                    <a:bodyPr/>
                    <a:lstStyle/>
                    <a:p>
                      <a:pPr>
                        <a:defRPr sz="1000">
                          <a:solidFill>
                            <a:srgbClr val="1E293B"/>
                          </a:solidFill>
                        </a:defRPr>
                      </a:pPr>
                      <a:r>
                        <a:t>vitals_raw</a:t>
                      </a:r>
                    </a:p>
                  </a:txBody>
                  <a:tcPr>
                    <a:solidFill>
                      <a:srgbClr val="FFFFFF"/>
                    </a:solidFill>
                  </a:tcPr>
                </a:tc>
                <a:tc>
                  <a:txBody>
                    <a:bodyPr/>
                    <a:lstStyle/>
                    <a:p>
                      <a:pPr>
                        <a:defRPr sz="1000">
                          <a:solidFill>
                            <a:srgbClr val="1E293B"/>
                          </a:solidFill>
                        </a:defRPr>
                      </a:pPr>
                      <a:r>
                        <a:t>id, patient_id, heart_rate, spo2, body_temp, svm, fall_detected, timestamp</a:t>
                      </a:r>
                    </a:p>
                  </a:txBody>
                  <a:tcPr>
                    <a:solidFill>
                      <a:srgbClr val="FFFFFF"/>
                    </a:solidFill>
                  </a:tcPr>
                </a:tc>
                <a:tc>
                  <a:txBody>
                    <a:bodyPr/>
                    <a:lstStyle/>
                    <a:p>
                      <a:pPr>
                        <a:defRPr sz="1000">
                          <a:solidFill>
                            <a:srgbClr val="1E293B"/>
                          </a:solidFill>
                        </a:defRPr>
                      </a:pPr>
                      <a:r>
                        <a:t>PK: id</a:t>
                      </a:r>
                      <a:br/>
                      <a:r>
                        <a:t>FK: patient_id</a:t>
                      </a:r>
                    </a:p>
                  </a:txBody>
                  <a:tcPr>
                    <a:solidFill>
                      <a:srgbClr val="FFFFFF"/>
                    </a:solidFill>
                  </a:tcPr>
                </a:tc>
                <a:tc>
                  <a:txBody>
                    <a:bodyPr/>
                    <a:lstStyle/>
                    <a:p>
                      <a:pPr>
                        <a:defRPr sz="1000">
                          <a:solidFill>
                            <a:srgbClr val="1E293B"/>
                          </a:solidFill>
                        </a:defRPr>
                      </a:pPr>
                      <a:r>
                        <a:t>Continuous high-frequency (1Hz) vital records for scoring</a:t>
                      </a:r>
                    </a:p>
                  </a:txBody>
                  <a:tcPr>
                    <a:solidFill>
                      <a:srgbClr val="FFFFFF"/>
                    </a:solidFill>
                  </a:tcPr>
                </a:tc>
              </a:tr>
              <a:tr h="438912">
                <a:tc>
                  <a:txBody>
                    <a:bodyPr/>
                    <a:lstStyle/>
                    <a:p>
                      <a:pPr>
                        <a:defRPr sz="1000">
                          <a:solidFill>
                            <a:srgbClr val="1E293B"/>
                          </a:solidFill>
                        </a:defRPr>
                      </a:pPr>
                      <a:r>
                        <a:t>fall_alerts</a:t>
                      </a:r>
                    </a:p>
                  </a:txBody>
                  <a:tcPr>
                    <a:solidFill>
                      <a:srgbClr val="F1F5F9"/>
                    </a:solidFill>
                  </a:tcPr>
                </a:tc>
                <a:tc>
                  <a:txBody>
                    <a:bodyPr/>
                    <a:lstStyle/>
                    <a:p>
                      <a:pPr>
                        <a:defRPr sz="1000">
                          <a:solidFill>
                            <a:srgbClr val="1E293B"/>
                          </a:solidFill>
                        </a:defRPr>
                      </a:pPr>
                      <a:r>
                        <a:t>id, band_id, timestamp, peak_accel, severity, acknowledged</a:t>
                      </a:r>
                    </a:p>
                  </a:txBody>
                  <a:tcPr>
                    <a:solidFill>
                      <a:srgbClr val="F1F5F9"/>
                    </a:solidFill>
                  </a:tcPr>
                </a:tc>
                <a:tc>
                  <a:txBody>
                    <a:bodyPr/>
                    <a:lstStyle/>
                    <a:p>
                      <a:pPr>
                        <a:defRPr sz="1000">
                          <a:solidFill>
                            <a:srgbClr val="1E293B"/>
                          </a:solidFill>
                        </a:defRPr>
                      </a:pPr>
                      <a:r>
                        <a:t>PK: id</a:t>
                      </a:r>
                      <a:br/>
                      <a:r>
                        <a:t>FK: band_id</a:t>
                      </a:r>
                    </a:p>
                  </a:txBody>
                  <a:tcPr>
                    <a:solidFill>
                      <a:srgbClr val="F1F5F9"/>
                    </a:solidFill>
                  </a:tcPr>
                </a:tc>
                <a:tc>
                  <a:txBody>
                    <a:bodyPr/>
                    <a:lstStyle/>
                    <a:p>
                      <a:pPr>
                        <a:defRPr sz="1000">
                          <a:solidFill>
                            <a:srgbClr val="1E293B"/>
                          </a:solidFill>
                        </a:defRPr>
                      </a:pPr>
                      <a:r>
                        <a:t>Incident logs storing impact intensity and acknowledgment state</a:t>
                      </a:r>
                    </a:p>
                  </a:txBody>
                  <a:tcPr>
                    <a:solidFill>
                      <a:srgbClr val="F1F5F9"/>
                    </a:solidFill>
                  </a:tcPr>
                </a:tc>
              </a:tr>
              <a:tr h="438912">
                <a:tc>
                  <a:txBody>
                    <a:bodyPr/>
                    <a:lstStyle/>
                    <a:p>
                      <a:pPr>
                        <a:defRPr sz="1000">
                          <a:solidFill>
                            <a:srgbClr val="1E293B"/>
                          </a:solidFill>
                        </a:defRPr>
                      </a:pPr>
                      <a:r>
                        <a:t>daily_analytics</a:t>
                      </a:r>
                    </a:p>
                  </a:txBody>
                  <a:tcPr>
                    <a:solidFill>
                      <a:srgbClr val="FFFFFF"/>
                    </a:solidFill>
                  </a:tcPr>
                </a:tc>
                <a:tc>
                  <a:txBody>
                    <a:bodyPr/>
                    <a:lstStyle/>
                    <a:p>
                      <a:pPr>
                        <a:defRPr sz="1000">
                          <a:solidFill>
                            <a:srgbClr val="1E293B"/>
                          </a:solidFill>
                        </a:defRPr>
                      </a:pPr>
                      <a:r>
                        <a:t>id, patient_id, date, hr_avg, hr_min, hr_max, spo2_avg, temp_avg, anomaly_count</a:t>
                      </a:r>
                    </a:p>
                  </a:txBody>
                  <a:tcPr>
                    <a:solidFill>
                      <a:srgbClr val="FFFFFF"/>
                    </a:solidFill>
                  </a:tcPr>
                </a:tc>
                <a:tc>
                  <a:txBody>
                    <a:bodyPr/>
                    <a:lstStyle/>
                    <a:p>
                      <a:pPr>
                        <a:defRPr sz="1000">
                          <a:solidFill>
                            <a:srgbClr val="1E293B"/>
                          </a:solidFill>
                        </a:defRPr>
                      </a:pPr>
                      <a:r>
                        <a:t>PK: id</a:t>
                      </a:r>
                      <a:br/>
                      <a:r>
                        <a:t>FK: patient_id</a:t>
                      </a:r>
                    </a:p>
                  </a:txBody>
                  <a:tcPr>
                    <a:solidFill>
                      <a:srgbClr val="FFFFFF"/>
                    </a:solidFill>
                  </a:tcPr>
                </a:tc>
                <a:tc>
                  <a:txBody>
                    <a:bodyPr/>
                    <a:lstStyle/>
                    <a:p>
                      <a:pPr>
                        <a:defRPr sz="1000">
                          <a:solidFill>
                            <a:srgbClr val="1E293B"/>
                          </a:solidFill>
                        </a:defRPr>
                      </a:pPr>
                      <a:r>
                        <a:t>Aggregated 30-day summaries for historical trend charts</a:t>
                      </a:r>
                    </a:p>
                  </a:txBody>
                  <a:tcPr>
                    <a:solidFill>
                      <a:srgbClr val="FFFFFF"/>
                    </a:solidFill>
                  </a:tcPr>
                </a:tc>
              </a:tr>
            </a:tbl>
          </a:graphicData>
        </a:graphic>
      </p:graphicFrame>
      <p:sp>
        <p:nvSpPr>
          <p:cNvPr id="8" name="TextBox 7"/>
          <p:cNvSpPr txBox="1"/>
          <p:nvPr/>
        </p:nvSpPr>
        <p:spPr>
          <a:xfrm>
            <a:off x="914400" y="4572000"/>
            <a:ext cx="10362895" cy="1554480"/>
          </a:xfrm>
          <a:prstGeom prst="rect">
            <a:avLst/>
          </a:prstGeom>
          <a:noFill/>
        </p:spPr>
        <p:txBody>
          <a:bodyPr wrap="square">
            <a:spAutoFit/>
          </a:bodyPr>
          <a:lstStyle/>
          <a:p>
            <a:pPr>
              <a:defRPr sz="1200" b="1">
                <a:solidFill>
                  <a:srgbClr val="01373D"/>
                </a:solidFill>
              </a:defRPr>
            </a:pPr>
            <a:r>
              <a:t>Relational Integrity &amp; Schema Design Principles:</a:t>
            </a:r>
          </a:p>
          <a:p>
            <a:pPr>
              <a:spcBef>
                <a:spcPts val="300"/>
              </a:spcBef>
              <a:defRPr sz="1100">
                <a:solidFill>
                  <a:srgbClr val="1E293B"/>
                </a:solidFill>
              </a:defRPr>
            </a:pPr>
            <a:r>
              <a:t>•  1-to-1 Relationship: Each registered Guardian profile binds directly to a physical Wearable Band (`band_id: 00001`).</a:t>
            </a:r>
          </a:p>
          <a:p>
            <a:pPr>
              <a:spcBef>
                <a:spcPts val="300"/>
              </a:spcBef>
              <a:defRPr sz="1100">
                <a:solidFill>
                  <a:srgbClr val="1E293B"/>
                </a:solidFill>
              </a:defRPr>
            </a:pPr>
            <a:r>
              <a:t>•  1-to-Many Relationship: Each Patient references hundreds of raw telemetry packets (`vitals_raw`) and 30-day records.</a:t>
            </a:r>
          </a:p>
          <a:p>
            <a:pPr>
              <a:spcBef>
                <a:spcPts val="300"/>
              </a:spcBef>
              <a:defRPr sz="1100">
                <a:solidFill>
                  <a:srgbClr val="1E293B"/>
                </a:solidFill>
              </a:defRPr>
            </a:pPr>
            <a:r>
              <a:t>•  Status Partitioning: `fall_alerts.acknowledged` separates active emergency states (`0`) from resolved historical baseline (`1`).</a:t>
            </a:r>
          </a:p>
          <a:p>
            <a:pPr>
              <a:spcBef>
                <a:spcPts val="300"/>
              </a:spcBef>
              <a:defRPr sz="1100">
                <a:solidFill>
                  <a:srgbClr val="1E293B"/>
                </a:solidFill>
              </a:defRPr>
            </a:pPr>
            <a:r>
              <a:t>•  Performance Optimization: Indexed on `(band_id, acknowledged)` and `(patient_id, timestamp)` for &lt; 5ms query speeds.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728655" cy="36576"/>
          </a:xfrm>
          <a:prstGeom prst="rect">
            <a:avLst/>
          </a:prstGeom>
          <a:solidFill>
            <a:srgbClr val="0E7490"/>
          </a:solidFill>
          <a:ln>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728655" cy="320040"/>
          </a:xfrm>
          <a:prstGeom prst="rect">
            <a:avLst/>
          </a:prstGeom>
          <a:noFill/>
        </p:spPr>
        <p:txBody>
          <a:bodyPr wrap="square" lIns="0" tIns="0" rIns="0" bIns="0">
            <a:spAutoFit/>
          </a:bodyPr>
          <a:lstStyle/>
          <a:p>
            <a:pPr>
              <a:defRPr sz="1000" b="1">
                <a:solidFill>
                  <a:srgbClr val="0E7490"/>
                </a:solidFill>
              </a:defRPr>
            </a:pPr>
            <a:r>
              <a:t>EXPERIMENTAL METRICS &amp; UI DEMONSTRATION</a:t>
            </a:r>
          </a:p>
        </p:txBody>
      </p:sp>
      <p:sp>
        <p:nvSpPr>
          <p:cNvPr id="4" name="TextBox 3"/>
          <p:cNvSpPr txBox="1"/>
          <p:nvPr/>
        </p:nvSpPr>
        <p:spPr>
          <a:xfrm>
            <a:off x="731520" y="868680"/>
            <a:ext cx="10728655" cy="594360"/>
          </a:xfrm>
          <a:prstGeom prst="rect">
            <a:avLst/>
          </a:prstGeom>
          <a:noFill/>
        </p:spPr>
        <p:txBody>
          <a:bodyPr wrap="square" lIns="0" tIns="0" rIns="0" bIns="0">
            <a:spAutoFit/>
          </a:bodyPr>
          <a:lstStyle/>
          <a:p>
            <a:pPr>
              <a:defRPr sz="2400" b="1">
                <a:solidFill>
                  <a:srgbClr val="01373D"/>
                </a:solidFill>
              </a:defRPr>
            </a:pPr>
            <a:r>
              <a:t>Slide 8: Results &amp; System Demonstration</a:t>
            </a:r>
          </a:p>
        </p:txBody>
      </p:sp>
      <p:sp>
        <p:nvSpPr>
          <p:cNvPr id="5" name="Rounded Rectangle 4"/>
          <p:cNvSpPr/>
          <p:nvPr/>
        </p:nvSpPr>
        <p:spPr>
          <a:xfrm>
            <a:off x="731520" y="1645920"/>
            <a:ext cx="512064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4663440" cy="365760"/>
          </a:xfrm>
          <a:prstGeom prst="rect">
            <a:avLst/>
          </a:prstGeom>
          <a:noFill/>
        </p:spPr>
        <p:txBody>
          <a:bodyPr wrap="square" lIns="0" tIns="0" rIns="0" bIns="0">
            <a:spAutoFit/>
          </a:bodyPr>
          <a:lstStyle/>
          <a:p>
            <a:pPr>
              <a:defRPr sz="1400" b="1">
                <a:solidFill>
                  <a:srgbClr val="01373D"/>
                </a:solidFill>
              </a:defRPr>
            </a:pPr>
            <a:r>
              <a:t>1. Key Results &amp; Performance Metrics</a:t>
            </a:r>
          </a:p>
        </p:txBody>
      </p:sp>
      <p:sp>
        <p:nvSpPr>
          <p:cNvPr id="7" name="TextBox 6"/>
          <p:cNvSpPr txBox="1"/>
          <p:nvPr/>
        </p:nvSpPr>
        <p:spPr>
          <a:xfrm>
            <a:off x="914400" y="2148840"/>
            <a:ext cx="4754880" cy="4023360"/>
          </a:xfrm>
          <a:prstGeom prst="rect">
            <a:avLst/>
          </a:prstGeom>
          <a:noFill/>
        </p:spPr>
        <p:txBody>
          <a:bodyPr wrap="square">
            <a:spAutoFit/>
          </a:bodyPr>
          <a:lstStyle/>
          <a:p>
            <a:pPr>
              <a:spcBef>
                <a:spcPts val="600"/>
              </a:spcBef>
              <a:defRPr sz="1200" b="1">
                <a:solidFill>
                  <a:srgbClr val="0E7490"/>
                </a:solidFill>
              </a:defRPr>
            </a:pPr>
            <a:r>
              <a:t>•  Sub-250ms Alert Latency:</a:t>
            </a:r>
          </a:p>
          <a:p>
            <a:pPr>
              <a:spcBef>
                <a:spcPts val="100"/>
              </a:spcBef>
              <a:defRPr sz="1100">
                <a:solidFill>
                  <a:srgbClr val="1E293B"/>
                </a:solidFill>
              </a:defRPr>
            </a:pPr>
            <a:r>
              <a:t>    From physical impact detection on the ESP32 to instant pop-up siren warning on the guardian's dashboard.</a:t>
            </a:r>
          </a:p>
          <a:p>
            <a:pPr>
              <a:spcBef>
                <a:spcPts val="600"/>
              </a:spcBef>
              <a:defRPr sz="1200" b="1">
                <a:solidFill>
                  <a:srgbClr val="0E7490"/>
                </a:solidFill>
              </a:defRPr>
            </a:pPr>
            <a:r>
              <a:t>•  94.2% Fall Detection Accuracy:</a:t>
            </a:r>
          </a:p>
          <a:p>
            <a:pPr>
              <a:spcBef>
                <a:spcPts val="100"/>
              </a:spcBef>
              <a:defRPr sz="1100">
                <a:solidFill>
                  <a:srgbClr val="1E293B"/>
                </a:solidFill>
              </a:defRPr>
            </a:pPr>
            <a:r>
              <a:t>    Tested against 50 controlled simulations (forward falls, backward slips, and sitting down). The SVM threshold (&gt;2.8g) filtered out normal sitting movements.</a:t>
            </a:r>
          </a:p>
          <a:p>
            <a:pPr>
              <a:spcBef>
                <a:spcPts val="600"/>
              </a:spcBef>
              <a:defRPr sz="1200" b="1">
                <a:solidFill>
                  <a:srgbClr val="0E7490"/>
                </a:solidFill>
              </a:defRPr>
            </a:pPr>
            <a:r>
              <a:t>•  1Hz Continuous Telemetry Stream:</a:t>
            </a:r>
          </a:p>
          <a:p>
            <a:pPr>
              <a:spcBef>
                <a:spcPts val="100"/>
              </a:spcBef>
              <a:defRPr sz="1100">
                <a:solidFill>
                  <a:srgbClr val="1E293B"/>
                </a:solidFill>
              </a:defRPr>
            </a:pPr>
            <a:r>
              <a:t>    Zero client lag or frame drop achieved through optimized React memoization and lightweight WebSocket frames.</a:t>
            </a:r>
          </a:p>
          <a:p>
            <a:pPr>
              <a:spcBef>
                <a:spcPts val="600"/>
              </a:spcBef>
              <a:defRPr sz="1200" b="1">
                <a:solidFill>
                  <a:srgbClr val="0E7490"/>
                </a:solidFill>
              </a:defRPr>
            </a:pPr>
            <a:r>
              <a:t>•  Zero-Configuration Local Reliability:</a:t>
            </a:r>
          </a:p>
          <a:p>
            <a:pPr>
              <a:spcBef>
                <a:spcPts val="100"/>
              </a:spcBef>
              <a:defRPr sz="1100">
                <a:solidFill>
                  <a:srgbClr val="1E293B"/>
                </a:solidFill>
              </a:defRPr>
            </a:pPr>
            <a:r>
              <a:t>    FastAPI + SQLite WAL architecture allows deployment on a local Raspberry Pi or hospital edge server without internet dependencies.</a:t>
            </a:r>
          </a:p>
        </p:txBody>
      </p:sp>
      <p:sp>
        <p:nvSpPr>
          <p:cNvPr id="8" name="Rounded Rectangle 7"/>
          <p:cNvSpPr/>
          <p:nvPr/>
        </p:nvSpPr>
        <p:spPr>
          <a:xfrm>
            <a:off x="6309360" y="1645920"/>
            <a:ext cx="512064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37960" y="1828800"/>
            <a:ext cx="4663440" cy="365760"/>
          </a:xfrm>
          <a:prstGeom prst="rect">
            <a:avLst/>
          </a:prstGeom>
          <a:noFill/>
        </p:spPr>
        <p:txBody>
          <a:bodyPr wrap="square" lIns="0" tIns="0" rIns="0" bIns="0">
            <a:spAutoFit/>
          </a:bodyPr>
          <a:lstStyle/>
          <a:p>
            <a:pPr>
              <a:defRPr sz="1400" b="1">
                <a:solidFill>
                  <a:srgbClr val="01373D"/>
                </a:solidFill>
              </a:defRPr>
            </a:pPr>
            <a:r>
              <a:t>2. System Demonstration &amp; Working Modules</a:t>
            </a:r>
          </a:p>
        </p:txBody>
      </p:sp>
      <p:sp>
        <p:nvSpPr>
          <p:cNvPr id="10" name="TextBox 9"/>
          <p:cNvSpPr txBox="1"/>
          <p:nvPr/>
        </p:nvSpPr>
        <p:spPr>
          <a:xfrm>
            <a:off x="6492240" y="2148840"/>
            <a:ext cx="4754880" cy="4023360"/>
          </a:xfrm>
          <a:prstGeom prst="rect">
            <a:avLst/>
          </a:prstGeom>
          <a:noFill/>
        </p:spPr>
        <p:txBody>
          <a:bodyPr wrap="square">
            <a:spAutoFit/>
          </a:bodyPr>
          <a:lstStyle/>
          <a:p>
            <a:pPr>
              <a:spcBef>
                <a:spcPts val="600"/>
              </a:spcBef>
              <a:defRPr sz="1200" b="1">
                <a:solidFill>
                  <a:srgbClr val="01373D"/>
                </a:solidFill>
              </a:defRPr>
            </a:pPr>
            <a:r>
              <a:t>•  Module A: Live Monitor Dashboard</a:t>
            </a:r>
          </a:p>
          <a:p>
            <a:pPr>
              <a:spcBef>
                <a:spcPts val="100"/>
              </a:spcBef>
              <a:defRPr sz="1100">
                <a:solidFill>
                  <a:srgbClr val="1E293B"/>
                </a:solidFill>
              </a:defRPr>
            </a:pPr>
            <a:r>
              <a:t>    Displays live ECG/heart rate line graph, SpO2 gauge, real-time connection badge (Bluetooth/Wi-Fi), and battery status.</a:t>
            </a:r>
          </a:p>
          <a:p>
            <a:pPr>
              <a:spcBef>
                <a:spcPts val="600"/>
              </a:spcBef>
              <a:defRPr sz="1200" b="1">
                <a:solidFill>
                  <a:srgbClr val="01373D"/>
                </a:solidFill>
              </a:defRPr>
            </a:pPr>
            <a:r>
              <a:t>•  Module B: Emergency Alert Modal</a:t>
            </a:r>
          </a:p>
          <a:p>
            <a:pPr>
              <a:spcBef>
                <a:spcPts val="100"/>
              </a:spcBef>
              <a:defRPr sz="1100">
                <a:solidFill>
                  <a:srgbClr val="1E293B"/>
                </a:solidFill>
              </a:defRPr>
            </a:pPr>
            <a:r>
              <a:t>    Triggers high-priority visual banner with audio siren when peak acceleration exceeds 2.8g. Includes one-click 'Acknowledge' button.</a:t>
            </a:r>
          </a:p>
          <a:p>
            <a:pPr>
              <a:spcBef>
                <a:spcPts val="600"/>
              </a:spcBef>
              <a:defRPr sz="1200" b="1">
                <a:solidFill>
                  <a:srgbClr val="01373D"/>
                </a:solidFill>
              </a:defRPr>
            </a:pPr>
            <a:r>
              <a:t>•  Module C: Past Records &amp; 30-Day Analytics</a:t>
            </a:r>
          </a:p>
          <a:p>
            <a:pPr>
              <a:spcBef>
                <a:spcPts val="100"/>
              </a:spcBef>
              <a:defRPr sz="1100">
                <a:solidFill>
                  <a:srgbClr val="1E293B"/>
                </a:solidFill>
              </a:defRPr>
            </a:pPr>
            <a:r>
              <a:t>    Shows 7-day, 14-day, and 30-day interactive vital trend graphs for clinical review by visiting doctors.</a:t>
            </a:r>
          </a:p>
          <a:p>
            <a:pPr>
              <a:spcBef>
                <a:spcPts val="600"/>
              </a:spcBef>
              <a:defRPr sz="1200" b="1">
                <a:solidFill>
                  <a:srgbClr val="01373D"/>
                </a:solidFill>
              </a:defRPr>
            </a:pPr>
            <a:r>
              <a:t>•  Module D: Dynamic Health Safety Score</a:t>
            </a:r>
          </a:p>
          <a:p>
            <a:pPr>
              <a:spcBef>
                <a:spcPts val="100"/>
              </a:spcBef>
              <a:defRPr sz="1100">
                <a:solidFill>
                  <a:srgbClr val="1E293B"/>
                </a:solidFill>
              </a:defRPr>
            </a:pPr>
            <a:r>
              <a:t>    Calculates a 0-100 composite safety score (e.g. 93/100 'GOOD &amp; SAFE') with transparent factor breakdown.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728655" cy="36576"/>
          </a:xfrm>
          <a:prstGeom prst="rect">
            <a:avLst/>
          </a:prstGeom>
          <a:solidFill>
            <a:srgbClr val="0E7490"/>
          </a:solidFill>
          <a:ln>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728655" cy="320040"/>
          </a:xfrm>
          <a:prstGeom prst="rect">
            <a:avLst/>
          </a:prstGeom>
          <a:noFill/>
        </p:spPr>
        <p:txBody>
          <a:bodyPr wrap="square" lIns="0" tIns="0" rIns="0" bIns="0">
            <a:spAutoFit/>
          </a:bodyPr>
          <a:lstStyle/>
          <a:p>
            <a:pPr>
              <a:defRPr sz="1000" b="1">
                <a:solidFill>
                  <a:srgbClr val="0E7490"/>
                </a:solidFill>
              </a:defRPr>
            </a:pPr>
            <a:r>
              <a:t>CRITICAL ANALYSIS, LIMITATIONS &amp; ROADMAP</a:t>
            </a:r>
          </a:p>
        </p:txBody>
      </p:sp>
      <p:sp>
        <p:nvSpPr>
          <p:cNvPr id="4" name="TextBox 3"/>
          <p:cNvSpPr txBox="1"/>
          <p:nvPr/>
        </p:nvSpPr>
        <p:spPr>
          <a:xfrm>
            <a:off x="731520" y="868680"/>
            <a:ext cx="10728655" cy="594360"/>
          </a:xfrm>
          <a:prstGeom prst="rect">
            <a:avLst/>
          </a:prstGeom>
          <a:noFill/>
        </p:spPr>
        <p:txBody>
          <a:bodyPr wrap="square" lIns="0" tIns="0" rIns="0" bIns="0">
            <a:spAutoFit/>
          </a:bodyPr>
          <a:lstStyle/>
          <a:p>
            <a:pPr>
              <a:defRPr sz="2400" b="1">
                <a:solidFill>
                  <a:srgbClr val="01373D"/>
                </a:solidFill>
              </a:defRPr>
            </a:pPr>
            <a:r>
              <a:t>Slide 9: Discussion &amp; Future Work</a:t>
            </a:r>
          </a:p>
        </p:txBody>
      </p:sp>
      <p:sp>
        <p:nvSpPr>
          <p:cNvPr id="5" name="Rounded Rectangle 4"/>
          <p:cNvSpPr/>
          <p:nvPr/>
        </p:nvSpPr>
        <p:spPr>
          <a:xfrm>
            <a:off x="731520" y="1645920"/>
            <a:ext cx="5120640" cy="2194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4663440" cy="365760"/>
          </a:xfrm>
          <a:prstGeom prst="rect">
            <a:avLst/>
          </a:prstGeom>
          <a:noFill/>
        </p:spPr>
        <p:txBody>
          <a:bodyPr wrap="square" lIns="0" tIns="0" rIns="0" bIns="0">
            <a:spAutoFit/>
          </a:bodyPr>
          <a:lstStyle/>
          <a:p>
            <a:pPr>
              <a:defRPr sz="1400" b="1">
                <a:solidFill>
                  <a:srgbClr val="01373D"/>
                </a:solidFill>
              </a:defRPr>
            </a:pPr>
            <a:r>
              <a:t>1. Analysis &amp; Results Interpretation</a:t>
            </a:r>
          </a:p>
        </p:txBody>
      </p:sp>
      <p:sp>
        <p:nvSpPr>
          <p:cNvPr id="7" name="TextBox 6"/>
          <p:cNvSpPr txBox="1"/>
          <p:nvPr/>
        </p:nvSpPr>
        <p:spPr>
          <a:xfrm>
            <a:off x="914400" y="2148840"/>
            <a:ext cx="4754880" cy="1554480"/>
          </a:xfrm>
          <a:prstGeom prst="rect">
            <a:avLst/>
          </a:prstGeom>
          <a:noFill/>
        </p:spPr>
        <p:txBody>
          <a:bodyPr wrap="square">
            <a:spAutoFit/>
          </a:bodyPr>
          <a:lstStyle/>
          <a:p>
            <a:pPr>
              <a:defRPr sz="1100">
                <a:solidFill>
                  <a:srgbClr val="1E293B"/>
                </a:solidFill>
              </a:defRPr>
            </a:pPr>
            <a:r>
              <a:t>•  Combining hardware acceleration filtering on the ESP32 with server-side heuristic scoring effectively prevented false alarms.</a:t>
            </a:r>
          </a:p>
          <a:p>
            <a:pPr>
              <a:spcBef>
                <a:spcPts val="400"/>
              </a:spcBef>
              <a:defRPr sz="1100">
                <a:solidFill>
                  <a:srgbClr val="1E293B"/>
                </a:solidFill>
              </a:defRPr>
            </a:pPr>
            <a:r>
              <a:t>•  WebSocket bi-directional communication proved 6x more power-efficient on the band than repeated HTTP polling.</a:t>
            </a:r>
          </a:p>
        </p:txBody>
      </p:sp>
      <p:sp>
        <p:nvSpPr>
          <p:cNvPr id="8" name="Rounded Rectangle 7"/>
          <p:cNvSpPr/>
          <p:nvPr/>
        </p:nvSpPr>
        <p:spPr>
          <a:xfrm>
            <a:off x="6309360" y="1645920"/>
            <a:ext cx="5120640" cy="2194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37960" y="1828800"/>
            <a:ext cx="4663440" cy="365760"/>
          </a:xfrm>
          <a:prstGeom prst="rect">
            <a:avLst/>
          </a:prstGeom>
          <a:noFill/>
        </p:spPr>
        <p:txBody>
          <a:bodyPr wrap="square" lIns="0" tIns="0" rIns="0" bIns="0">
            <a:spAutoFit/>
          </a:bodyPr>
          <a:lstStyle/>
          <a:p>
            <a:pPr>
              <a:defRPr sz="1400" b="1">
                <a:solidFill>
                  <a:srgbClr val="01373D"/>
                </a:solidFill>
              </a:defRPr>
            </a:pPr>
            <a:r>
              <a:t>2. Current Limitations</a:t>
            </a:r>
          </a:p>
        </p:txBody>
      </p:sp>
      <p:sp>
        <p:nvSpPr>
          <p:cNvPr id="10" name="TextBox 9"/>
          <p:cNvSpPr txBox="1"/>
          <p:nvPr/>
        </p:nvSpPr>
        <p:spPr>
          <a:xfrm>
            <a:off x="6492240" y="2148840"/>
            <a:ext cx="4754880" cy="1554480"/>
          </a:xfrm>
          <a:prstGeom prst="rect">
            <a:avLst/>
          </a:prstGeom>
          <a:noFill/>
        </p:spPr>
        <p:txBody>
          <a:bodyPr wrap="square">
            <a:spAutoFit/>
          </a:bodyPr>
          <a:lstStyle/>
          <a:p>
            <a:pPr>
              <a:defRPr sz="1100">
                <a:solidFill>
                  <a:srgbClr val="1E293B"/>
                </a:solidFill>
              </a:defRPr>
            </a:pPr>
            <a:r>
              <a:t>•  Network Boundary: Current prototype operates over local Wi-Fi / hotspot; requires gateway connectivity.</a:t>
            </a:r>
          </a:p>
          <a:p>
            <a:pPr>
              <a:spcBef>
                <a:spcPts val="400"/>
              </a:spcBef>
              <a:defRPr sz="1100">
                <a:solidFill>
                  <a:srgbClr val="1E293B"/>
                </a:solidFill>
              </a:defRPr>
            </a:pPr>
            <a:r>
              <a:t>•  Motion Artifacts: Extreme arm shaking during vigorous exercise can temporarily introduce noise in PPG optical SpO2.</a:t>
            </a:r>
          </a:p>
        </p:txBody>
      </p:sp>
      <p:sp>
        <p:nvSpPr>
          <p:cNvPr id="11" name="Rounded Rectangle 10"/>
          <p:cNvSpPr/>
          <p:nvPr/>
        </p:nvSpPr>
        <p:spPr>
          <a:xfrm>
            <a:off x="731520" y="4114800"/>
            <a:ext cx="5120640" cy="2194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297680"/>
            <a:ext cx="4663440" cy="365760"/>
          </a:xfrm>
          <a:prstGeom prst="rect">
            <a:avLst/>
          </a:prstGeom>
          <a:noFill/>
        </p:spPr>
        <p:txBody>
          <a:bodyPr wrap="square" lIns="0" tIns="0" rIns="0" bIns="0">
            <a:spAutoFit/>
          </a:bodyPr>
          <a:lstStyle/>
          <a:p>
            <a:pPr>
              <a:defRPr sz="1400" b="1">
                <a:solidFill>
                  <a:srgbClr val="01373D"/>
                </a:solidFill>
              </a:defRPr>
            </a:pPr>
            <a:r>
              <a:t>3. Challenges Faced &amp; Resolved</a:t>
            </a:r>
          </a:p>
        </p:txBody>
      </p:sp>
      <p:sp>
        <p:nvSpPr>
          <p:cNvPr id="13" name="TextBox 12"/>
          <p:cNvSpPr txBox="1"/>
          <p:nvPr/>
        </p:nvSpPr>
        <p:spPr>
          <a:xfrm>
            <a:off x="914400" y="4617720"/>
            <a:ext cx="4754880" cy="1554480"/>
          </a:xfrm>
          <a:prstGeom prst="rect">
            <a:avLst/>
          </a:prstGeom>
          <a:noFill/>
        </p:spPr>
        <p:txBody>
          <a:bodyPr wrap="square">
            <a:spAutoFit/>
          </a:bodyPr>
          <a:lstStyle/>
          <a:p>
            <a:pPr>
              <a:defRPr sz="1100">
                <a:solidFill>
                  <a:srgbClr val="1E293B"/>
                </a:solidFill>
              </a:defRPr>
            </a:pPr>
            <a:r>
              <a:t>•  False Alarm Mitigation: Solved by adding a 2-second post-impact stillness check (orientation check).</a:t>
            </a:r>
          </a:p>
          <a:p>
            <a:pPr>
              <a:spcBef>
                <a:spcPts val="400"/>
              </a:spcBef>
              <a:defRPr sz="1100">
                <a:solidFill>
                  <a:srgbClr val="1E293B"/>
                </a:solidFill>
              </a:defRPr>
            </a:pPr>
            <a:r>
              <a:t>•  State Synchronization: Synchronized live WebSocket alert events with persistent SQLite database acknowledgment.</a:t>
            </a:r>
          </a:p>
        </p:txBody>
      </p:sp>
      <p:sp>
        <p:nvSpPr>
          <p:cNvPr id="14" name="Rounded Rectangle 13"/>
          <p:cNvSpPr/>
          <p:nvPr/>
        </p:nvSpPr>
        <p:spPr>
          <a:xfrm>
            <a:off x="6309360" y="4114800"/>
            <a:ext cx="5120640" cy="2194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297680"/>
            <a:ext cx="4663440" cy="365760"/>
          </a:xfrm>
          <a:prstGeom prst="rect">
            <a:avLst/>
          </a:prstGeom>
          <a:noFill/>
        </p:spPr>
        <p:txBody>
          <a:bodyPr wrap="square" lIns="0" tIns="0" rIns="0" bIns="0">
            <a:spAutoFit/>
          </a:bodyPr>
          <a:lstStyle/>
          <a:p>
            <a:pPr>
              <a:defRPr sz="1400" b="1">
                <a:solidFill>
                  <a:srgbClr val="01373D"/>
                </a:solidFill>
              </a:defRPr>
            </a:pPr>
            <a:r>
              <a:t>4. Future Scope &amp; Roadmap</a:t>
            </a:r>
          </a:p>
        </p:txBody>
      </p:sp>
      <p:sp>
        <p:nvSpPr>
          <p:cNvPr id="16" name="TextBox 15"/>
          <p:cNvSpPr txBox="1"/>
          <p:nvPr/>
        </p:nvSpPr>
        <p:spPr>
          <a:xfrm>
            <a:off x="6492240" y="4617720"/>
            <a:ext cx="4754880" cy="1554480"/>
          </a:xfrm>
          <a:prstGeom prst="rect">
            <a:avLst/>
          </a:prstGeom>
          <a:noFill/>
        </p:spPr>
        <p:txBody>
          <a:bodyPr wrap="square">
            <a:spAutoFit/>
          </a:bodyPr>
          <a:lstStyle/>
          <a:p>
            <a:pPr>
              <a:defRPr sz="1100">
                <a:solidFill>
                  <a:srgbClr val="1E293B"/>
                </a:solidFill>
              </a:defRPr>
            </a:pPr>
            <a:r>
              <a:t>•  TinyML On-Device AI: Deploy lightweight neural net (TensorFlow Lite Micro) on ESP32 for personalized gait classification.</a:t>
            </a:r>
          </a:p>
          <a:p>
            <a:pPr>
              <a:spcBef>
                <a:spcPts val="400"/>
              </a:spcBef>
              <a:defRPr sz="1100">
                <a:solidFill>
                  <a:srgbClr val="1E293B"/>
                </a:solidFill>
              </a:defRPr>
            </a:pPr>
            <a:r>
              <a:t>•  Long-Range Connectivity: Add LoRaWAN or NB-IoT / GSM module for continuous tracking outside the home.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728655" cy="36576"/>
          </a:xfrm>
          <a:prstGeom prst="rect">
            <a:avLst/>
          </a:prstGeom>
          <a:solidFill>
            <a:srgbClr val="0E7490"/>
          </a:solidFill>
          <a:ln>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728655" cy="320040"/>
          </a:xfrm>
          <a:prstGeom prst="rect">
            <a:avLst/>
          </a:prstGeom>
          <a:noFill/>
        </p:spPr>
        <p:txBody>
          <a:bodyPr wrap="square" lIns="0" tIns="0" rIns="0" bIns="0">
            <a:spAutoFit/>
          </a:bodyPr>
          <a:lstStyle/>
          <a:p>
            <a:pPr>
              <a:defRPr sz="1000" b="1">
                <a:solidFill>
                  <a:srgbClr val="0E7490"/>
                </a:solidFill>
              </a:defRPr>
            </a:pPr>
            <a:r>
              <a:t>SUMMARY &amp; PROJECT CONTRIBUTIONS</a:t>
            </a:r>
          </a:p>
        </p:txBody>
      </p:sp>
      <p:sp>
        <p:nvSpPr>
          <p:cNvPr id="4" name="TextBox 3"/>
          <p:cNvSpPr txBox="1"/>
          <p:nvPr/>
        </p:nvSpPr>
        <p:spPr>
          <a:xfrm>
            <a:off x="731520" y="868680"/>
            <a:ext cx="10728655" cy="594360"/>
          </a:xfrm>
          <a:prstGeom prst="rect">
            <a:avLst/>
          </a:prstGeom>
          <a:noFill/>
        </p:spPr>
        <p:txBody>
          <a:bodyPr wrap="square" lIns="0" tIns="0" rIns="0" bIns="0">
            <a:spAutoFit/>
          </a:bodyPr>
          <a:lstStyle/>
          <a:p>
            <a:pPr>
              <a:defRPr sz="2400" b="1">
                <a:solidFill>
                  <a:srgbClr val="01373D"/>
                </a:solidFill>
              </a:defRPr>
            </a:pPr>
            <a:r>
              <a:t>Slide 10: Conclusion</a:t>
            </a:r>
          </a:p>
        </p:txBody>
      </p:sp>
      <p:sp>
        <p:nvSpPr>
          <p:cNvPr id="5" name="Rounded Rectangle 4"/>
          <p:cNvSpPr/>
          <p:nvPr/>
        </p:nvSpPr>
        <p:spPr>
          <a:xfrm>
            <a:off x="731520" y="1645920"/>
            <a:ext cx="10728655"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10271455" cy="365760"/>
          </a:xfrm>
          <a:prstGeom prst="rect">
            <a:avLst/>
          </a:prstGeom>
          <a:noFill/>
        </p:spPr>
        <p:txBody>
          <a:bodyPr wrap="square" lIns="0" tIns="0" rIns="0" bIns="0">
            <a:spAutoFit/>
          </a:bodyPr>
          <a:lstStyle/>
          <a:p>
            <a:pPr>
              <a:defRPr sz="1400" b="1">
                <a:solidFill>
                  <a:srgbClr val="01373D"/>
                </a:solidFill>
              </a:defRPr>
            </a:pPr>
            <a:r>
              <a:t>Project Summary &amp; Key Takeaways</a:t>
            </a:r>
          </a:p>
        </p:txBody>
      </p:sp>
      <p:sp>
        <p:nvSpPr>
          <p:cNvPr id="7" name="TextBox 6"/>
          <p:cNvSpPr txBox="1"/>
          <p:nvPr/>
        </p:nvSpPr>
        <p:spPr>
          <a:xfrm>
            <a:off x="1005840" y="2148840"/>
            <a:ext cx="10180015" cy="3931920"/>
          </a:xfrm>
          <a:prstGeom prst="rect">
            <a:avLst/>
          </a:prstGeom>
          <a:noFill/>
        </p:spPr>
        <p:txBody>
          <a:bodyPr wrap="square">
            <a:spAutoFit/>
          </a:bodyPr>
          <a:lstStyle/>
          <a:p>
            <a:pPr>
              <a:spcBef>
                <a:spcPts val="800"/>
              </a:spcBef>
              <a:defRPr sz="1300" b="1">
                <a:solidFill>
                  <a:srgbClr val="01373D"/>
                </a:solidFill>
              </a:defRPr>
            </a:pPr>
            <a:r>
              <a:t>•  Summary of Work:</a:t>
            </a:r>
          </a:p>
          <a:p>
            <a:pPr>
              <a:spcBef>
                <a:spcPts val="200"/>
              </a:spcBef>
              <a:defRPr sz="1100">
                <a:solidFill>
                  <a:srgbClr val="1E293B"/>
                </a:solidFill>
              </a:defRPr>
            </a:pPr>
            <a:r>
              <a:t>    Successfully conceptualized, built, and tested 'VitalGuard C3'—an end-to-end IoT wearable and web monitoring system tailored for elderly health and fall prevention.</a:t>
            </a:r>
          </a:p>
          <a:p>
            <a:pPr>
              <a:spcBef>
                <a:spcPts val="800"/>
              </a:spcBef>
              <a:defRPr sz="1300" b="1">
                <a:solidFill>
                  <a:srgbClr val="01373D"/>
                </a:solidFill>
              </a:defRPr>
            </a:pPr>
            <a:r>
              <a:t>•  Achievement of Objectives:</a:t>
            </a:r>
          </a:p>
          <a:p>
            <a:pPr>
              <a:spcBef>
                <a:spcPts val="200"/>
              </a:spcBef>
              <a:defRPr sz="1100">
                <a:solidFill>
                  <a:srgbClr val="1E293B"/>
                </a:solidFill>
              </a:defRPr>
            </a:pPr>
            <a:r>
              <a:t>    Delivered sub-250ms fall alert latency, continuous 1Hz vital signs tracking, passwordless guardian authentication, and dynamic 30-day clinical risk assessment.</a:t>
            </a:r>
          </a:p>
          <a:p>
            <a:pPr>
              <a:spcBef>
                <a:spcPts val="800"/>
              </a:spcBef>
              <a:defRPr sz="1300" b="1">
                <a:solidFill>
                  <a:srgbClr val="01373D"/>
                </a:solidFill>
              </a:defRPr>
            </a:pPr>
            <a:r>
              <a:t>•  Major Engineering Contributions:</a:t>
            </a:r>
          </a:p>
          <a:p>
            <a:pPr>
              <a:spcBef>
                <a:spcPts val="200"/>
              </a:spcBef>
              <a:defRPr sz="1100">
                <a:solidFill>
                  <a:srgbClr val="1E293B"/>
                </a:solidFill>
              </a:defRPr>
            </a:pPr>
            <a:r>
              <a:t>    1) Low-cost hardware design (&lt; ₹2,500 bill of materials) vs commercial ₹30,000+ solutions.</a:t>
            </a:r>
            <a:br/>
            <a:r>
              <a:t>2) High-throughput asynchronous backend (FastAPI + WebSocket + SQLite WAL).</a:t>
            </a:r>
            <a:br/>
            <a:r>
              <a:t>3) Dual-tier clinical safety engine distinguishing acute falls from resolved history.</a:t>
            </a:r>
          </a:p>
          <a:p>
            <a:pPr>
              <a:spcBef>
                <a:spcPts val="800"/>
              </a:spcBef>
              <a:defRPr sz="1300" b="1">
                <a:solidFill>
                  <a:srgbClr val="01373D"/>
                </a:solidFill>
              </a:defRPr>
            </a:pPr>
            <a:r>
              <a:t>•  Final Remarks:</a:t>
            </a:r>
          </a:p>
          <a:p>
            <a:pPr>
              <a:spcBef>
                <a:spcPts val="200"/>
              </a:spcBef>
              <a:defRPr sz="1100">
                <a:solidFill>
                  <a:srgbClr val="1E293B"/>
                </a:solidFill>
              </a:defRPr>
            </a:pPr>
            <a:r>
              <a:t>    VitalGuard C3 proves that accessible, modern web technologies and smart edge sensing can bridge the gap in healthcare, offering peace of mind to families and rapid care to vulnerable patients.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57200" cy="6858000"/>
          </a:xfrm>
          <a:prstGeom prst="rect">
            <a:avLst/>
          </a:prstGeom>
          <a:solidFill>
            <a:srgbClr val="013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371600" y="1371600"/>
            <a:ext cx="9448495" cy="4114800"/>
          </a:xfrm>
          <a:prstGeom prst="roundRect">
            <a:avLst/>
          </a:prstGeom>
          <a:solidFill>
            <a:srgbClr val="FFFFFF"/>
          </a:solidFill>
          <a:ln w="254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0" y="1737360"/>
            <a:ext cx="8534095" cy="3383280"/>
          </a:xfrm>
          <a:prstGeom prst="rect">
            <a:avLst/>
          </a:prstGeom>
          <a:noFill/>
        </p:spPr>
        <p:txBody>
          <a:bodyPr wrap="square">
            <a:spAutoFit/>
          </a:bodyPr>
          <a:lstStyle/>
          <a:p>
            <a:pPr algn="ctr">
              <a:defRPr sz="4000" b="1">
                <a:solidFill>
                  <a:srgbClr val="01373D"/>
                </a:solidFill>
              </a:defRPr>
            </a:pPr>
            <a:r>
              <a:t>THANK YOU!</a:t>
            </a:r>
          </a:p>
          <a:p>
            <a:pPr algn="ctr">
              <a:spcBef>
                <a:spcPts val="800"/>
              </a:spcBef>
              <a:defRPr sz="2200" b="1">
                <a:solidFill>
                  <a:srgbClr val="0E7490"/>
                </a:solidFill>
              </a:defRPr>
            </a:pPr>
            <a:r>
              <a:t>Questions &amp; Answers</a:t>
            </a:r>
          </a:p>
          <a:p>
            <a:pPr algn="ctr">
              <a:spcBef>
                <a:spcPts val="1400"/>
              </a:spcBef>
              <a:defRPr sz="1300">
                <a:solidFill>
                  <a:srgbClr val="1E293B"/>
                </a:solidFill>
              </a:defRPr>
            </a:pPr>
            <a:r>
              <a:t>We welcome your valuable feedback, questions, and suggestions.</a:t>
            </a:r>
          </a:p>
          <a:p>
            <a:pPr algn="ctr">
              <a:spcBef>
                <a:spcPts val="1600"/>
              </a:spcBef>
              <a:defRPr sz="1200" b="1">
                <a:solidFill>
                  <a:srgbClr val="0E7490"/>
                </a:solidFill>
              </a:defRPr>
            </a:pPr>
            <a:r>
              <a:t>Project Repository: https://github.com/Aditya1kumbhar/vitalguard-c3</a:t>
            </a:r>
          </a:p>
          <a:p>
            <a:pPr algn="ctr">
              <a:spcBef>
                <a:spcPts val="600"/>
              </a:spcBef>
              <a:defRPr sz="1100">
                <a:solidFill>
                  <a:srgbClr val="64748B"/>
                </a:solidFill>
              </a:defRPr>
            </a:pPr>
            <a:r>
              <a:t>Aditya Kumbhar &amp; Team  |  Academic Year 2025-26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